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74" r:id="rId3"/>
    <p:sldId id="257" r:id="rId4"/>
    <p:sldId id="275" r:id="rId5"/>
    <p:sldId id="258" r:id="rId6"/>
    <p:sldId id="259" r:id="rId7"/>
    <p:sldId id="277" r:id="rId8"/>
    <p:sldId id="276" r:id="rId9"/>
    <p:sldId id="278" r:id="rId10"/>
    <p:sldId id="280" r:id="rId11"/>
    <p:sldId id="279" r:id="rId12"/>
    <p:sldId id="263" r:id="rId13"/>
    <p:sldId id="260" r:id="rId14"/>
    <p:sldId id="262" r:id="rId15"/>
    <p:sldId id="281" r:id="rId16"/>
    <p:sldId id="264" r:id="rId17"/>
    <p:sldId id="282" r:id="rId18"/>
    <p:sldId id="283" r:id="rId19"/>
    <p:sldId id="284" r:id="rId20"/>
    <p:sldId id="273" r:id="rId2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E71"/>
    <a:srgbClr val="000000"/>
    <a:srgbClr val="C36859"/>
    <a:srgbClr val="212121"/>
    <a:srgbClr val="B694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734174-8FC8-47B5-BE48-4F0ADAB7E707}">
  <a:tblStyle styleId="{EB734174-8FC8-47B5-BE48-4F0ADAB7E7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1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xmi Maurya" userId="33131a4e7209f5c5" providerId="LiveId" clId="{5EF8071D-50A6-43F0-A3C6-AA10F5F418D2}"/>
    <pc:docChg chg="custSel modSld">
      <pc:chgData name="Laxmi Maurya" userId="33131a4e7209f5c5" providerId="LiveId" clId="{5EF8071D-50A6-43F0-A3C6-AA10F5F418D2}" dt="2026-04-07T11:04:53.929" v="4" actId="478"/>
      <pc:docMkLst>
        <pc:docMk/>
      </pc:docMkLst>
      <pc:sldChg chg="delSp mod">
        <pc:chgData name="Laxmi Maurya" userId="33131a4e7209f5c5" providerId="LiveId" clId="{5EF8071D-50A6-43F0-A3C6-AA10F5F418D2}" dt="2026-04-07T10:59:34.098" v="0" actId="478"/>
        <pc:sldMkLst>
          <pc:docMk/>
          <pc:sldMk cId="0" sldId="259"/>
        </pc:sldMkLst>
        <pc:spChg chg="del">
          <ac:chgData name="Laxmi Maurya" userId="33131a4e7209f5c5" providerId="LiveId" clId="{5EF8071D-50A6-43F0-A3C6-AA10F5F418D2}" dt="2026-04-07T10:59:34.098" v="0" actId="478"/>
          <ac:spMkLst>
            <pc:docMk/>
            <pc:sldMk cId="0" sldId="259"/>
            <ac:spMk id="249" creationId="{00000000-0000-0000-0000-000000000000}"/>
          </ac:spMkLst>
        </pc:spChg>
      </pc:sldChg>
      <pc:sldChg chg="delSp mod">
        <pc:chgData name="Laxmi Maurya" userId="33131a4e7209f5c5" providerId="LiveId" clId="{5EF8071D-50A6-43F0-A3C6-AA10F5F418D2}" dt="2026-04-07T11:04:53.929" v="4" actId="478"/>
        <pc:sldMkLst>
          <pc:docMk/>
          <pc:sldMk cId="1733439027" sldId="274"/>
        </pc:sldMkLst>
        <pc:spChg chg="del">
          <ac:chgData name="Laxmi Maurya" userId="33131a4e7209f5c5" providerId="LiveId" clId="{5EF8071D-50A6-43F0-A3C6-AA10F5F418D2}" dt="2026-04-07T11:04:44.650" v="1" actId="478"/>
          <ac:spMkLst>
            <pc:docMk/>
            <pc:sldMk cId="1733439027" sldId="274"/>
            <ac:spMk id="21" creationId="{68A513E9-3B72-789D-E836-9E7EF31ED89D}"/>
          </ac:spMkLst>
        </pc:spChg>
        <pc:spChg chg="del">
          <ac:chgData name="Laxmi Maurya" userId="33131a4e7209f5c5" providerId="LiveId" clId="{5EF8071D-50A6-43F0-A3C6-AA10F5F418D2}" dt="2026-04-07T11:04:48.946" v="2" actId="478"/>
          <ac:spMkLst>
            <pc:docMk/>
            <pc:sldMk cId="1733439027" sldId="274"/>
            <ac:spMk id="22" creationId="{359F3E3B-E3DE-9850-A475-2E77CFF7BC9D}"/>
          </ac:spMkLst>
        </pc:spChg>
        <pc:spChg chg="del">
          <ac:chgData name="Laxmi Maurya" userId="33131a4e7209f5c5" providerId="LiveId" clId="{5EF8071D-50A6-43F0-A3C6-AA10F5F418D2}" dt="2026-04-07T11:04:51.514" v="3" actId="478"/>
          <ac:spMkLst>
            <pc:docMk/>
            <pc:sldMk cId="1733439027" sldId="274"/>
            <ac:spMk id="23" creationId="{947F25B1-1A85-A774-D38A-5190093B134C}"/>
          </ac:spMkLst>
        </pc:spChg>
        <pc:spChg chg="del">
          <ac:chgData name="Laxmi Maurya" userId="33131a4e7209f5c5" providerId="LiveId" clId="{5EF8071D-50A6-43F0-A3C6-AA10F5F418D2}" dt="2026-04-07T11:04:53.929" v="4" actId="478"/>
          <ac:spMkLst>
            <pc:docMk/>
            <pc:sldMk cId="1733439027" sldId="274"/>
            <ac:spMk id="24" creationId="{4A6B3110-A5E2-4000-072A-7B533ADC547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706CA7F6-E363-FF78-4C49-3E2B201A1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>
            <a:extLst>
              <a:ext uri="{FF2B5EF4-FFF2-40B4-BE49-F238E27FC236}">
                <a16:creationId xmlns:a16="http://schemas.microsoft.com/office/drawing/2014/main" id="{8CFF8F5F-6390-17BB-C94E-64BD3DBB23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1:notes">
            <a:extLst>
              <a:ext uri="{FF2B5EF4-FFF2-40B4-BE49-F238E27FC236}">
                <a16:creationId xmlns:a16="http://schemas.microsoft.com/office/drawing/2014/main" id="{B95786E3-652C-CAAA-ED9A-2E6EA91745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:notes">
            <a:extLst>
              <a:ext uri="{FF2B5EF4-FFF2-40B4-BE49-F238E27FC236}">
                <a16:creationId xmlns:a16="http://schemas.microsoft.com/office/drawing/2014/main" id="{980CD37A-B394-3014-6F20-3D7101D293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6085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1282D4CB-6C50-FE58-142B-6FF48E05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>
            <a:extLst>
              <a:ext uri="{FF2B5EF4-FFF2-40B4-BE49-F238E27FC236}">
                <a16:creationId xmlns:a16="http://schemas.microsoft.com/office/drawing/2014/main" id="{57C61CDD-7D85-0627-44F5-FA98D80BC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D9EE5F9B-3229-EE42-18C9-C955185B97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2FC51775-4845-1694-A0BE-8487070543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6083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2DB27D52-7062-9479-3AA2-8148E77A3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DD38CD7C-49AE-EB52-B514-F5781EFE6F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3:notes">
            <a:extLst>
              <a:ext uri="{FF2B5EF4-FFF2-40B4-BE49-F238E27FC236}">
                <a16:creationId xmlns:a16="http://schemas.microsoft.com/office/drawing/2014/main" id="{96F437AF-F672-FCE2-B541-3959AF5872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3:notes">
            <a:extLst>
              <a:ext uri="{FF2B5EF4-FFF2-40B4-BE49-F238E27FC236}">
                <a16:creationId xmlns:a16="http://schemas.microsoft.com/office/drawing/2014/main" id="{12F37A89-E04D-8EB4-B984-A231B4D9DB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9894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>
          <a:extLst>
            <a:ext uri="{FF2B5EF4-FFF2-40B4-BE49-F238E27FC236}">
              <a16:creationId xmlns:a16="http://schemas.microsoft.com/office/drawing/2014/main" id="{72354C5D-4E32-3F63-96A6-9DA6A4C0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>
            <a:extLst>
              <a:ext uri="{FF2B5EF4-FFF2-40B4-BE49-F238E27FC236}">
                <a16:creationId xmlns:a16="http://schemas.microsoft.com/office/drawing/2014/main" id="{98F2F08A-30B5-0879-F4EB-5EB44D0F0B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4:notes">
            <a:extLst>
              <a:ext uri="{FF2B5EF4-FFF2-40B4-BE49-F238E27FC236}">
                <a16:creationId xmlns:a16="http://schemas.microsoft.com/office/drawing/2014/main" id="{3B6CD799-7986-CAD4-D22C-CFA178E68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:notes">
            <a:extLst>
              <a:ext uri="{FF2B5EF4-FFF2-40B4-BE49-F238E27FC236}">
                <a16:creationId xmlns:a16="http://schemas.microsoft.com/office/drawing/2014/main" id="{743ABF28-DEC0-9DC2-21E4-01A3F3547B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89736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25BB82FF-07A8-DF0C-3949-7A612EC45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CEBDBC6C-D82A-BD1B-734F-2285BC33EB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3:notes">
            <a:extLst>
              <a:ext uri="{FF2B5EF4-FFF2-40B4-BE49-F238E27FC236}">
                <a16:creationId xmlns:a16="http://schemas.microsoft.com/office/drawing/2014/main" id="{0EBC6EB9-3BAF-4E8E-77AD-084793CB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3:notes">
            <a:extLst>
              <a:ext uri="{FF2B5EF4-FFF2-40B4-BE49-F238E27FC236}">
                <a16:creationId xmlns:a16="http://schemas.microsoft.com/office/drawing/2014/main" id="{8A7B29C6-A7E4-934D-0D55-CB97475DAE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3815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>
          <a:extLst>
            <a:ext uri="{FF2B5EF4-FFF2-40B4-BE49-F238E27FC236}">
              <a16:creationId xmlns:a16="http://schemas.microsoft.com/office/drawing/2014/main" id="{F818BE90-1D1D-BE15-54F7-01B9FC8B2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7C4F413F-11DB-580A-BCB0-E667B04887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4" name="Google Shape;544;p11:notes">
            <a:extLst>
              <a:ext uri="{FF2B5EF4-FFF2-40B4-BE49-F238E27FC236}">
                <a16:creationId xmlns:a16="http://schemas.microsoft.com/office/drawing/2014/main" id="{C1E4C5E7-DF4B-A1A5-B06A-F2E2A998C0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1:notes">
            <a:extLst>
              <a:ext uri="{FF2B5EF4-FFF2-40B4-BE49-F238E27FC236}">
                <a16:creationId xmlns:a16="http://schemas.microsoft.com/office/drawing/2014/main" id="{C6D7ADD7-42E6-E8C1-F269-9B423AF295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09802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6578B1D5-6D88-45A5-CFBC-244FC9BCC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B9C72271-388B-290B-E293-10A7CD39DB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3:notes">
            <a:extLst>
              <a:ext uri="{FF2B5EF4-FFF2-40B4-BE49-F238E27FC236}">
                <a16:creationId xmlns:a16="http://schemas.microsoft.com/office/drawing/2014/main" id="{BC431818-FD36-4B78-4E09-06B8929F5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3:notes">
            <a:extLst>
              <a:ext uri="{FF2B5EF4-FFF2-40B4-BE49-F238E27FC236}">
                <a16:creationId xmlns:a16="http://schemas.microsoft.com/office/drawing/2014/main" id="{042EA179-61BA-145E-ECBB-554260B969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8340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>
          <a:extLst>
            <a:ext uri="{FF2B5EF4-FFF2-40B4-BE49-F238E27FC236}">
              <a16:creationId xmlns:a16="http://schemas.microsoft.com/office/drawing/2014/main" id="{8FAA37AB-7918-2F55-7555-FA231E003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7:notes">
            <a:extLst>
              <a:ext uri="{FF2B5EF4-FFF2-40B4-BE49-F238E27FC236}">
                <a16:creationId xmlns:a16="http://schemas.microsoft.com/office/drawing/2014/main" id="{365B1A48-F100-0838-9A22-1287F696CC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7:notes">
            <a:extLst>
              <a:ext uri="{FF2B5EF4-FFF2-40B4-BE49-F238E27FC236}">
                <a16:creationId xmlns:a16="http://schemas.microsoft.com/office/drawing/2014/main" id="{63AFC5C8-F16E-2A58-5056-3766691595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0" name="Google Shape;360;p7:notes">
            <a:extLst>
              <a:ext uri="{FF2B5EF4-FFF2-40B4-BE49-F238E27FC236}">
                <a16:creationId xmlns:a16="http://schemas.microsoft.com/office/drawing/2014/main" id="{F00F5D94-E146-2267-425F-9D27F1F07F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1007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F1E96F57-8946-4C17-3263-5D4250622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>
            <a:extLst>
              <a:ext uri="{FF2B5EF4-FFF2-40B4-BE49-F238E27FC236}">
                <a16:creationId xmlns:a16="http://schemas.microsoft.com/office/drawing/2014/main" id="{0C6578EB-14A2-F4F6-7EEB-057739083C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p10:notes">
            <a:extLst>
              <a:ext uri="{FF2B5EF4-FFF2-40B4-BE49-F238E27FC236}">
                <a16:creationId xmlns:a16="http://schemas.microsoft.com/office/drawing/2014/main" id="{41CDAC3D-84D8-18A5-4A14-5B12BAE28C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1" name="Google Shape;491;p10:notes">
            <a:extLst>
              <a:ext uri="{FF2B5EF4-FFF2-40B4-BE49-F238E27FC236}">
                <a16:creationId xmlns:a16="http://schemas.microsoft.com/office/drawing/2014/main" id="{165F52F4-C4C8-69DD-CBAA-ADAD2A2F87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76109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D3A405E1-605C-F6FB-DC73-DDC6B5344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>
            <a:extLst>
              <a:ext uri="{FF2B5EF4-FFF2-40B4-BE49-F238E27FC236}">
                <a16:creationId xmlns:a16="http://schemas.microsoft.com/office/drawing/2014/main" id="{A6FDE769-2A13-DD1C-0502-9AF7761EBB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p10:notes">
            <a:extLst>
              <a:ext uri="{FF2B5EF4-FFF2-40B4-BE49-F238E27FC236}">
                <a16:creationId xmlns:a16="http://schemas.microsoft.com/office/drawing/2014/main" id="{A563E30A-B056-B56A-B0ED-FA6F06AEFA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1" name="Google Shape;491;p10:notes">
            <a:extLst>
              <a:ext uri="{FF2B5EF4-FFF2-40B4-BE49-F238E27FC236}">
                <a16:creationId xmlns:a16="http://schemas.microsoft.com/office/drawing/2014/main" id="{ED9565B8-A705-4945-1AD6-7E0A38E0B9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66812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C2313F39-4BA2-4DC3-6133-66EB92AEB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>
            <a:extLst>
              <a:ext uri="{FF2B5EF4-FFF2-40B4-BE49-F238E27FC236}">
                <a16:creationId xmlns:a16="http://schemas.microsoft.com/office/drawing/2014/main" id="{CB3A68F9-2F50-4A83-0860-3DD38136F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p10:notes">
            <a:extLst>
              <a:ext uri="{FF2B5EF4-FFF2-40B4-BE49-F238E27FC236}">
                <a16:creationId xmlns:a16="http://schemas.microsoft.com/office/drawing/2014/main" id="{54A83546-74D8-50B2-2069-9371055BC6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1" name="Google Shape;491;p10:notes">
            <a:extLst>
              <a:ext uri="{FF2B5EF4-FFF2-40B4-BE49-F238E27FC236}">
                <a16:creationId xmlns:a16="http://schemas.microsoft.com/office/drawing/2014/main" id="{7F24B7D3-8B67-5C20-5FC2-AA5C9DFA80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40030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9" name="Google Shape;69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274320" y="36576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1097280" y="100584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2560320" y="18288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4114800" y="73152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5577840" y="27432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132320" y="91440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8412480" y="45720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1920240" y="457200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3566160" y="411480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5029200" y="475488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6583680" y="448056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8138160" y="484632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8686800" y="384048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177783" y="1097281"/>
            <a:ext cx="67302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Essentials of Database Management System (DBMS) </a:t>
            </a:r>
          </a:p>
        </p:txBody>
      </p:sp>
      <p:sp>
        <p:nvSpPr>
          <p:cNvPr id="78" name="Google Shape;78;p14"/>
          <p:cNvSpPr/>
          <p:nvPr/>
        </p:nvSpPr>
        <p:spPr>
          <a:xfrm>
            <a:off x="274320" y="1723643"/>
            <a:ext cx="6309360" cy="45719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2608D6-4E91-7436-A1D0-BC8E5BCD2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230" y="2178145"/>
            <a:ext cx="3685181" cy="19850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31CBFAD-5EAB-6A1A-7C29-104AB73734FA}"/>
              </a:ext>
            </a:extLst>
          </p:cNvPr>
          <p:cNvSpPr txBox="1"/>
          <p:nvPr/>
        </p:nvSpPr>
        <p:spPr>
          <a:xfrm>
            <a:off x="758952" y="2571750"/>
            <a:ext cx="261383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00B0F0"/>
                </a:solidFill>
              </a:rPr>
              <a:t>“A database is the organized memory of an organization.”</a:t>
            </a:r>
            <a:br>
              <a:rPr lang="en-US" dirty="0"/>
            </a:b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2286F0B5-CBF4-2F30-4371-57AB6F67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56526935-60C5-FF2D-94F2-3224D6A36092}"/>
              </a:ext>
            </a:extLst>
          </p:cNvPr>
          <p:cNvSpPr/>
          <p:nvPr/>
        </p:nvSpPr>
        <p:spPr>
          <a:xfrm>
            <a:off x="274320" y="36576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4E03FF2C-0999-3B46-E12D-7706344F1B05}"/>
              </a:ext>
            </a:extLst>
          </p:cNvPr>
          <p:cNvSpPr/>
          <p:nvPr/>
        </p:nvSpPr>
        <p:spPr>
          <a:xfrm>
            <a:off x="1097280" y="100584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CC31BEFC-71E5-CC49-4EB8-E30F409B5942}"/>
              </a:ext>
            </a:extLst>
          </p:cNvPr>
          <p:cNvSpPr/>
          <p:nvPr/>
        </p:nvSpPr>
        <p:spPr>
          <a:xfrm>
            <a:off x="2560320" y="18288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56ADF574-63E7-386E-3C02-503718CA6880}"/>
              </a:ext>
            </a:extLst>
          </p:cNvPr>
          <p:cNvSpPr/>
          <p:nvPr/>
        </p:nvSpPr>
        <p:spPr>
          <a:xfrm>
            <a:off x="4114800" y="73152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A00F0844-EA38-588C-57AF-A451B4F3C91B}"/>
              </a:ext>
            </a:extLst>
          </p:cNvPr>
          <p:cNvSpPr/>
          <p:nvPr/>
        </p:nvSpPr>
        <p:spPr>
          <a:xfrm>
            <a:off x="5577840" y="27432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0B317DBC-5FE3-0006-ECF1-E5EE8C2728E0}"/>
              </a:ext>
            </a:extLst>
          </p:cNvPr>
          <p:cNvSpPr/>
          <p:nvPr/>
        </p:nvSpPr>
        <p:spPr>
          <a:xfrm>
            <a:off x="7132320" y="91440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E143003D-B462-DC89-AED2-517E18226D4D}"/>
              </a:ext>
            </a:extLst>
          </p:cNvPr>
          <p:cNvSpPr/>
          <p:nvPr/>
        </p:nvSpPr>
        <p:spPr>
          <a:xfrm>
            <a:off x="8412480" y="45720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3EC3F766-E587-B0D6-91D8-A96941264EAF}"/>
              </a:ext>
            </a:extLst>
          </p:cNvPr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492A9BF1-BF7D-247E-D0E3-04CDDDF23596}"/>
              </a:ext>
            </a:extLst>
          </p:cNvPr>
          <p:cNvSpPr/>
          <p:nvPr/>
        </p:nvSpPr>
        <p:spPr>
          <a:xfrm>
            <a:off x="1920240" y="457200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D2801B9F-33A1-214F-D93D-29AD457B64FA}"/>
              </a:ext>
            </a:extLst>
          </p:cNvPr>
          <p:cNvSpPr/>
          <p:nvPr/>
        </p:nvSpPr>
        <p:spPr>
          <a:xfrm>
            <a:off x="3566160" y="411480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3D82A5B6-C89B-F089-6D69-D9555EA6E217}"/>
              </a:ext>
            </a:extLst>
          </p:cNvPr>
          <p:cNvSpPr/>
          <p:nvPr/>
        </p:nvSpPr>
        <p:spPr>
          <a:xfrm>
            <a:off x="5029200" y="475488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0DE0CAE3-EEF2-17BD-D3C0-1DDB63C0D4E4}"/>
              </a:ext>
            </a:extLst>
          </p:cNvPr>
          <p:cNvSpPr/>
          <p:nvPr/>
        </p:nvSpPr>
        <p:spPr>
          <a:xfrm>
            <a:off x="6583680" y="448056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EC812359-61B4-DE86-D58C-9049C0A037A7}"/>
              </a:ext>
            </a:extLst>
          </p:cNvPr>
          <p:cNvSpPr/>
          <p:nvPr/>
        </p:nvSpPr>
        <p:spPr>
          <a:xfrm>
            <a:off x="8138160" y="484632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4">
            <a:extLst>
              <a:ext uri="{FF2B5EF4-FFF2-40B4-BE49-F238E27FC236}">
                <a16:creationId xmlns:a16="http://schemas.microsoft.com/office/drawing/2014/main" id="{08F6B2FB-9DBB-F75C-364B-3BC7551A85C2}"/>
              </a:ext>
            </a:extLst>
          </p:cNvPr>
          <p:cNvSpPr/>
          <p:nvPr/>
        </p:nvSpPr>
        <p:spPr>
          <a:xfrm>
            <a:off x="8686800" y="384048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4">
            <a:extLst>
              <a:ext uri="{FF2B5EF4-FFF2-40B4-BE49-F238E27FC236}">
                <a16:creationId xmlns:a16="http://schemas.microsoft.com/office/drawing/2014/main" id="{057CFC76-D646-214C-5D6B-F48AD7CE4676}"/>
              </a:ext>
            </a:extLst>
          </p:cNvPr>
          <p:cNvSpPr/>
          <p:nvPr/>
        </p:nvSpPr>
        <p:spPr>
          <a:xfrm>
            <a:off x="0" y="4908996"/>
            <a:ext cx="9144000" cy="234504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4">
            <a:extLst>
              <a:ext uri="{FF2B5EF4-FFF2-40B4-BE49-F238E27FC236}">
                <a16:creationId xmlns:a16="http://schemas.microsoft.com/office/drawing/2014/main" id="{60A58DC4-98E2-700A-115C-64C0AFB6FE25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88;p15">
            <a:extLst>
              <a:ext uri="{FF2B5EF4-FFF2-40B4-BE49-F238E27FC236}">
                <a16:creationId xmlns:a16="http://schemas.microsoft.com/office/drawing/2014/main" id="{4A0BD52E-20DF-C73A-5DBD-51FC85A74B35}"/>
              </a:ext>
            </a:extLst>
          </p:cNvPr>
          <p:cNvSpPr/>
          <p:nvPr/>
        </p:nvSpPr>
        <p:spPr>
          <a:xfrm>
            <a:off x="0" y="-36576"/>
            <a:ext cx="9144000" cy="706648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78;p14">
            <a:extLst>
              <a:ext uri="{FF2B5EF4-FFF2-40B4-BE49-F238E27FC236}">
                <a16:creationId xmlns:a16="http://schemas.microsoft.com/office/drawing/2014/main" id="{01AE89AD-08A4-8A8D-61A9-D05D23020911}"/>
              </a:ext>
            </a:extLst>
          </p:cNvPr>
          <p:cNvSpPr/>
          <p:nvPr/>
        </p:nvSpPr>
        <p:spPr>
          <a:xfrm flipV="1">
            <a:off x="0" y="633984"/>
            <a:ext cx="9144000" cy="45719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7E98AC-2C65-D04F-01AE-4430850C2E8C}"/>
              </a:ext>
            </a:extLst>
          </p:cNvPr>
          <p:cNvSpPr txBox="1"/>
          <p:nvPr/>
        </p:nvSpPr>
        <p:spPr>
          <a:xfrm>
            <a:off x="0" y="-8702"/>
            <a:ext cx="91439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+mn-lt"/>
              </a:rPr>
              <a:t>Traditional File System</a:t>
            </a:r>
          </a:p>
          <a:p>
            <a:endParaRPr lang="en-IN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D1428E-670C-C4E4-8B73-AE26F0BC33C0}"/>
              </a:ext>
            </a:extLst>
          </p:cNvPr>
          <p:cNvSpPr txBox="1"/>
          <p:nvPr/>
        </p:nvSpPr>
        <p:spPr>
          <a:xfrm>
            <a:off x="202692" y="1075943"/>
            <a:ext cx="336042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A</a:t>
            </a:r>
            <a:r>
              <a:rPr lang="en-US" sz="1600" dirty="0">
                <a:solidFill>
                  <a:schemeClr val="accent3"/>
                </a:solidFill>
              </a:rPr>
              <a:t> file-based system is a method of storing and managing data in individual files. </a:t>
            </a:r>
          </a:p>
          <a:p>
            <a:endParaRPr lang="en-US" sz="1600" dirty="0">
              <a:solidFill>
                <a:schemeClr val="accent3"/>
              </a:solidFill>
            </a:endParaRPr>
          </a:p>
          <a:p>
            <a:endParaRPr lang="en-US" sz="1600" dirty="0">
              <a:solidFill>
                <a:schemeClr val="accent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</a:rPr>
              <a:t>These files are organized in directories or folders on a computer’s storage device.</a:t>
            </a:r>
            <a:endParaRPr lang="en-IN" sz="1600" dirty="0">
              <a:solidFill>
                <a:schemeClr val="accent3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A1EFA3-D41A-353A-532F-69A45972D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101" y="761550"/>
            <a:ext cx="4115157" cy="27205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8454BC7-7654-E191-D97C-56DD6F81C34C}"/>
              </a:ext>
            </a:extLst>
          </p:cNvPr>
          <p:cNvSpPr txBox="1"/>
          <p:nvPr/>
        </p:nvSpPr>
        <p:spPr>
          <a:xfrm>
            <a:off x="316992" y="3953774"/>
            <a:ext cx="8150352" cy="307777"/>
          </a:xfrm>
          <a:prstGeom prst="rect">
            <a:avLst/>
          </a:prstGeom>
          <a:noFill/>
          <a:ln>
            <a:solidFill>
              <a:srgbClr val="212121"/>
            </a:solidFill>
          </a:ln>
        </p:spPr>
        <p:txBody>
          <a:bodyPr wrap="square" rtlCol="0">
            <a:spAutoFit/>
          </a:bodyPr>
          <a:lstStyle/>
          <a:p>
            <a:r>
              <a:rPr lang="en-IN"/>
              <a:t> </a:t>
            </a:r>
            <a:endParaRPr lang="en-IN" dirty="0"/>
          </a:p>
        </p:txBody>
      </p:sp>
      <p:sp>
        <p:nvSpPr>
          <p:cNvPr id="17" name="Google Shape;300;p18">
            <a:extLst>
              <a:ext uri="{FF2B5EF4-FFF2-40B4-BE49-F238E27FC236}">
                <a16:creationId xmlns:a16="http://schemas.microsoft.com/office/drawing/2014/main" id="{97E5E044-198F-0E87-DBE9-D30776CD2AC5}"/>
              </a:ext>
            </a:extLst>
          </p:cNvPr>
          <p:cNvSpPr/>
          <p:nvPr/>
        </p:nvSpPr>
        <p:spPr>
          <a:xfrm>
            <a:off x="452628" y="3629817"/>
            <a:ext cx="8412480" cy="1271367"/>
          </a:xfrm>
          <a:prstGeom prst="rect">
            <a:avLst/>
          </a:prstGeom>
          <a:solidFill>
            <a:srgbClr val="1F0A0A"/>
          </a:solidFill>
          <a:ln w="1905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EF4444"/>
              </a:buClr>
              <a:buSzPts val="1200"/>
            </a:pPr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 Data Redundancy             </a:t>
            </a:r>
            <a:r>
              <a:rPr lang="en-IN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Data Inconsistency         Poor Data Security         Difficult Data Access</a:t>
            </a:r>
          </a:p>
          <a:p>
            <a:pPr>
              <a:buClr>
                <a:srgbClr val="EF4444"/>
              </a:buClr>
              <a:buSzPts val="1200"/>
            </a:pPr>
            <a:endParaRPr lang="en-IN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Google Shape;300;p18">
            <a:extLst>
              <a:ext uri="{FF2B5EF4-FFF2-40B4-BE49-F238E27FC236}">
                <a16:creationId xmlns:a16="http://schemas.microsoft.com/office/drawing/2014/main" id="{B6C99861-7154-F9F1-A1C0-84E109D29C38}"/>
              </a:ext>
            </a:extLst>
          </p:cNvPr>
          <p:cNvSpPr/>
          <p:nvPr/>
        </p:nvSpPr>
        <p:spPr>
          <a:xfrm>
            <a:off x="502920" y="3651290"/>
            <a:ext cx="8311896" cy="294346"/>
          </a:xfrm>
          <a:prstGeom prst="rect">
            <a:avLst/>
          </a:prstGeom>
          <a:solidFill>
            <a:srgbClr val="1F0A0A"/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b="1" dirty="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⚠  The Fatal Weakness of  File System </a:t>
            </a:r>
            <a:endParaRPr dirty="0"/>
          </a:p>
        </p:txBody>
      </p:sp>
      <p:sp>
        <p:nvSpPr>
          <p:cNvPr id="25" name="Google Shape;300;p18">
            <a:extLst>
              <a:ext uri="{FF2B5EF4-FFF2-40B4-BE49-F238E27FC236}">
                <a16:creationId xmlns:a16="http://schemas.microsoft.com/office/drawing/2014/main" id="{9045298C-F172-E1DE-B8AB-1D3EBC6DEAB8}"/>
              </a:ext>
            </a:extLst>
          </p:cNvPr>
          <p:cNvSpPr/>
          <p:nvPr/>
        </p:nvSpPr>
        <p:spPr>
          <a:xfrm>
            <a:off x="591312" y="4401310"/>
            <a:ext cx="8095488" cy="394718"/>
          </a:xfrm>
          <a:prstGeom prst="rect">
            <a:avLst/>
          </a:prstGeom>
          <a:solidFill>
            <a:srgbClr val="1F0A0A"/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EF4444"/>
              </a:buClr>
              <a:buSzPts val="1200"/>
            </a:pPr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“These weaknesses make file systems inefficient, leading to the need for DBMS.”</a:t>
            </a:r>
            <a:endParaRPr lang="en-IN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buClr>
                <a:srgbClr val="EF4444"/>
              </a:buClr>
              <a:buSzPts val="1200"/>
            </a:pPr>
            <a:endParaRPr lang="en-IN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439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/>
          <p:nvPr/>
        </p:nvSpPr>
        <p:spPr>
          <a:xfrm>
            <a:off x="0" y="-74175"/>
            <a:ext cx="9144000" cy="706648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0" y="102581"/>
            <a:ext cx="9144000" cy="564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0F4FF"/>
              </a:buClr>
              <a:buSzPts val="2200"/>
            </a:pPr>
            <a:r>
              <a:rPr lang="en-IN" sz="3600" dirty="0">
                <a:solidFill>
                  <a:schemeClr val="tx1">
                    <a:lumMod val="95000"/>
                  </a:schemeClr>
                </a:solidFill>
              </a:rPr>
              <a:t>What is DBMS?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2200"/>
              <a:buFont typeface="Calibri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300990" y="824666"/>
            <a:ext cx="7593330" cy="560893"/>
          </a:xfrm>
          <a:prstGeom prst="rect">
            <a:avLst/>
          </a:prstGeom>
          <a:solidFill>
            <a:srgbClr val="EEF4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15"/>
          <p:cNvSpPr/>
          <p:nvPr/>
        </p:nvSpPr>
        <p:spPr>
          <a:xfrm>
            <a:off x="300990" y="824667"/>
            <a:ext cx="87630" cy="5608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502920" y="1234440"/>
            <a:ext cx="48463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299085" y="2349030"/>
            <a:ext cx="7593330" cy="2261071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E2000E-01FA-1269-0BD0-33502D8C8E57}"/>
              </a:ext>
            </a:extLst>
          </p:cNvPr>
          <p:cNvSpPr txBox="1"/>
          <p:nvPr/>
        </p:nvSpPr>
        <p:spPr>
          <a:xfrm>
            <a:off x="502920" y="875233"/>
            <a:ext cx="7185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Database Management System (DBMS)</a:t>
            </a:r>
            <a:r>
              <a:rPr lang="en-US" b="1" dirty="0"/>
              <a:t> </a:t>
            </a:r>
            <a:r>
              <a:rPr lang="en-US" dirty="0"/>
              <a:t>is software used to manage data from a database.</a:t>
            </a:r>
          </a:p>
        </p:txBody>
      </p:sp>
      <p:sp>
        <p:nvSpPr>
          <p:cNvPr id="4" name="Google Shape;90;p15">
            <a:extLst>
              <a:ext uri="{FF2B5EF4-FFF2-40B4-BE49-F238E27FC236}">
                <a16:creationId xmlns:a16="http://schemas.microsoft.com/office/drawing/2014/main" id="{24F1169F-894D-63C9-6E3E-7DC15B7AFD91}"/>
              </a:ext>
            </a:extLst>
          </p:cNvPr>
          <p:cNvSpPr/>
          <p:nvPr/>
        </p:nvSpPr>
        <p:spPr>
          <a:xfrm>
            <a:off x="299085" y="1542911"/>
            <a:ext cx="7593330" cy="692456"/>
          </a:xfrm>
          <a:prstGeom prst="rect">
            <a:avLst/>
          </a:prstGeom>
          <a:solidFill>
            <a:srgbClr val="EEF4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91;p15">
            <a:extLst>
              <a:ext uri="{FF2B5EF4-FFF2-40B4-BE49-F238E27FC236}">
                <a16:creationId xmlns:a16="http://schemas.microsoft.com/office/drawing/2014/main" id="{E07C8060-041B-55EB-02C2-D074D8974D83}"/>
              </a:ext>
            </a:extLst>
          </p:cNvPr>
          <p:cNvSpPr/>
          <p:nvPr/>
        </p:nvSpPr>
        <p:spPr>
          <a:xfrm>
            <a:off x="299085" y="1542911"/>
            <a:ext cx="87630" cy="69245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D23793-3C06-1168-57CC-234F61A142E2}"/>
              </a:ext>
            </a:extLst>
          </p:cNvPr>
          <p:cNvSpPr txBox="1"/>
          <p:nvPr/>
        </p:nvSpPr>
        <p:spPr>
          <a:xfrm>
            <a:off x="502920" y="1656574"/>
            <a:ext cx="7185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acts as an interface between the database and end users or applications, ensuring data is consistently organized , easily accessible, and secure.</a:t>
            </a:r>
            <a:endParaRPr lang="en-IN" dirty="0"/>
          </a:p>
        </p:txBody>
      </p:sp>
      <p:sp>
        <p:nvSpPr>
          <p:cNvPr id="11" name="Google Shape;159;p16">
            <a:extLst>
              <a:ext uri="{FF2B5EF4-FFF2-40B4-BE49-F238E27FC236}">
                <a16:creationId xmlns:a16="http://schemas.microsoft.com/office/drawing/2014/main" id="{C6F35230-F226-1A49-D301-E184CBA1BBF9}"/>
              </a:ext>
            </a:extLst>
          </p:cNvPr>
          <p:cNvSpPr/>
          <p:nvPr/>
        </p:nvSpPr>
        <p:spPr>
          <a:xfrm>
            <a:off x="2895599" y="2465770"/>
            <a:ext cx="2361247" cy="1681735"/>
          </a:xfrm>
          <a:prstGeom prst="rect">
            <a:avLst/>
          </a:prstGeom>
          <a:solidFill>
            <a:schemeClr val="tx1">
              <a:lumMod val="95000"/>
            </a:schemeClr>
          </a:solidFill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" name="Google Shape;163;p16">
            <a:extLst>
              <a:ext uri="{FF2B5EF4-FFF2-40B4-BE49-F238E27FC236}">
                <a16:creationId xmlns:a16="http://schemas.microsoft.com/office/drawing/2014/main" id="{9FB50637-01AE-C571-C2F0-3B63ADFB804A}"/>
              </a:ext>
            </a:extLst>
          </p:cNvPr>
          <p:cNvSpPr/>
          <p:nvPr/>
        </p:nvSpPr>
        <p:spPr>
          <a:xfrm>
            <a:off x="5325427" y="2478571"/>
            <a:ext cx="2450782" cy="1668934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88;p15">
            <a:extLst>
              <a:ext uri="{FF2B5EF4-FFF2-40B4-BE49-F238E27FC236}">
                <a16:creationId xmlns:a16="http://schemas.microsoft.com/office/drawing/2014/main" id="{0881AA77-F0B5-0B25-FA29-C68A13A469B2}"/>
              </a:ext>
            </a:extLst>
          </p:cNvPr>
          <p:cNvSpPr/>
          <p:nvPr/>
        </p:nvSpPr>
        <p:spPr>
          <a:xfrm>
            <a:off x="2887978" y="2478572"/>
            <a:ext cx="2361247" cy="332996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</a:t>
            </a:r>
            <a:r>
              <a:rPr lang="en-US" sz="16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FILE SYSTEM</a:t>
            </a:r>
            <a:endParaRPr sz="16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Google Shape;88;p15">
            <a:extLst>
              <a:ext uri="{FF2B5EF4-FFF2-40B4-BE49-F238E27FC236}">
                <a16:creationId xmlns:a16="http://schemas.microsoft.com/office/drawing/2014/main" id="{2BFB6700-89F7-DEA1-422C-F888C32C4AA1}"/>
              </a:ext>
            </a:extLst>
          </p:cNvPr>
          <p:cNvSpPr/>
          <p:nvPr/>
        </p:nvSpPr>
        <p:spPr>
          <a:xfrm>
            <a:off x="5349240" y="2478571"/>
            <a:ext cx="2450782" cy="332997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        </a:t>
            </a:r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DBMS</a:t>
            </a:r>
            <a:endParaRPr sz="18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Google Shape;159;p16">
            <a:extLst>
              <a:ext uri="{FF2B5EF4-FFF2-40B4-BE49-F238E27FC236}">
                <a16:creationId xmlns:a16="http://schemas.microsoft.com/office/drawing/2014/main" id="{5E02980B-9AC6-7BBF-1074-C6968B708F00}"/>
              </a:ext>
            </a:extLst>
          </p:cNvPr>
          <p:cNvSpPr/>
          <p:nvPr/>
        </p:nvSpPr>
        <p:spPr>
          <a:xfrm>
            <a:off x="409098" y="2478571"/>
            <a:ext cx="2361247" cy="1681735"/>
          </a:xfrm>
          <a:prstGeom prst="rect">
            <a:avLst/>
          </a:prstGeom>
          <a:solidFill>
            <a:schemeClr val="tx1">
              <a:lumMod val="95000"/>
            </a:schemeClr>
          </a:solidFill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88;p15">
            <a:extLst>
              <a:ext uri="{FF2B5EF4-FFF2-40B4-BE49-F238E27FC236}">
                <a16:creationId xmlns:a16="http://schemas.microsoft.com/office/drawing/2014/main" id="{42794F65-E69D-62B4-9A1E-BAE9060727C5}"/>
              </a:ext>
            </a:extLst>
          </p:cNvPr>
          <p:cNvSpPr/>
          <p:nvPr/>
        </p:nvSpPr>
        <p:spPr>
          <a:xfrm rot="10800000" flipV="1">
            <a:off x="409096" y="2465770"/>
            <a:ext cx="2361247" cy="345798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</a:t>
            </a:r>
            <a:r>
              <a:rPr lang="en-US" sz="16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FEATURES</a:t>
            </a:r>
            <a:endParaRPr sz="16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45C334-E88F-0A29-BB73-46357647BE47}"/>
              </a:ext>
            </a:extLst>
          </p:cNvPr>
          <p:cNvSpPr txBox="1"/>
          <p:nvPr/>
        </p:nvSpPr>
        <p:spPr>
          <a:xfrm>
            <a:off x="502920" y="2941110"/>
            <a:ext cx="21640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Redundancy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Consistency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Security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Data Access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Integrity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4D3C11-8685-3475-DAD0-066825DBC557}"/>
              </a:ext>
            </a:extLst>
          </p:cNvPr>
          <p:cNvSpPr txBox="1"/>
          <p:nvPr/>
        </p:nvSpPr>
        <p:spPr>
          <a:xfrm>
            <a:off x="2923698" y="2941110"/>
            <a:ext cx="21978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High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Poor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Weak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Difficult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Not Maintained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A9433B-0807-5879-0003-A7A290A85808}"/>
              </a:ext>
            </a:extLst>
          </p:cNvPr>
          <p:cNvSpPr txBox="1"/>
          <p:nvPr/>
        </p:nvSpPr>
        <p:spPr>
          <a:xfrm>
            <a:off x="5478780" y="2941110"/>
            <a:ext cx="2209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Low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High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Strong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Easy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Maintained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68376FA-3D43-6D10-8D91-2EBF53BDCC18}"/>
              </a:ext>
            </a:extLst>
          </p:cNvPr>
          <p:cNvGraphicFramePr>
            <a:graphicFrameLocks noGrp="1"/>
          </p:cNvGraphicFramePr>
          <p:nvPr/>
        </p:nvGraphicFramePr>
        <p:xfrm>
          <a:off x="311150" y="2708275"/>
          <a:ext cx="8521700" cy="304800"/>
        </p:xfrm>
        <a:graphic>
          <a:graphicData uri="http://schemas.openxmlformats.org/drawingml/2006/table">
            <a:tbl>
              <a:tblPr/>
              <a:tblGrid>
                <a:gridCol w="8521700">
                  <a:extLst>
                    <a:ext uri="{9D8B030D-6E8A-4147-A177-3AD203B41FA5}">
                      <a16:colId xmlns:a16="http://schemas.microsoft.com/office/drawing/2014/main" val="33399010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697757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1FC6DDE-6469-564C-DCFC-C52E94886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175479"/>
              </p:ext>
            </p:extLst>
          </p:nvPr>
        </p:nvGraphicFramePr>
        <p:xfrm>
          <a:off x="311150" y="2708275"/>
          <a:ext cx="8521700" cy="304800"/>
        </p:xfrm>
        <a:graphic>
          <a:graphicData uri="http://schemas.openxmlformats.org/drawingml/2006/table">
            <a:tbl>
              <a:tblPr/>
              <a:tblGrid>
                <a:gridCol w="8521700">
                  <a:extLst>
                    <a:ext uri="{9D8B030D-6E8A-4147-A177-3AD203B41FA5}">
                      <a16:colId xmlns:a16="http://schemas.microsoft.com/office/drawing/2014/main" val="22257111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443155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F7C4F8DC-AF42-3AB0-2633-0C48BDBF0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481326"/>
              </p:ext>
            </p:extLst>
          </p:nvPr>
        </p:nvGraphicFramePr>
        <p:xfrm>
          <a:off x="311150" y="2708275"/>
          <a:ext cx="8521700" cy="304800"/>
        </p:xfrm>
        <a:graphic>
          <a:graphicData uri="http://schemas.openxmlformats.org/drawingml/2006/table">
            <a:tbl>
              <a:tblPr/>
              <a:tblGrid>
                <a:gridCol w="8521700">
                  <a:extLst>
                    <a:ext uri="{9D8B030D-6E8A-4147-A177-3AD203B41FA5}">
                      <a16:colId xmlns:a16="http://schemas.microsoft.com/office/drawing/2014/main" val="315929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97681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680C1159-B6CB-F00C-6E53-047B2D0E89A4}"/>
              </a:ext>
            </a:extLst>
          </p:cNvPr>
          <p:cNvSpPr txBox="1"/>
          <p:nvPr/>
        </p:nvSpPr>
        <p:spPr>
          <a:xfrm>
            <a:off x="386715" y="4715482"/>
            <a:ext cx="7301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002060"/>
                </a:solidFill>
              </a:rPr>
              <a:t>“DBMS overcomes limitations of traditional file systems.”</a:t>
            </a:r>
            <a:endParaRPr lang="en-IN" sz="1600" i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71920DBB-5D82-6A40-208F-035B73823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F1AD8BF2-18A3-1E13-4C4A-5D0D58F41759}"/>
              </a:ext>
            </a:extLst>
          </p:cNvPr>
          <p:cNvSpPr/>
          <p:nvPr/>
        </p:nvSpPr>
        <p:spPr>
          <a:xfrm>
            <a:off x="232348" y="224344"/>
            <a:ext cx="8663049" cy="4813246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600F2DE4-0ED7-B807-8934-5D8FEB3E5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526495"/>
              </p:ext>
            </p:extLst>
          </p:nvPr>
        </p:nvGraphicFramePr>
        <p:xfrm>
          <a:off x="311150" y="584366"/>
          <a:ext cx="8521700" cy="304800"/>
        </p:xfrm>
        <a:graphic>
          <a:graphicData uri="http://schemas.openxmlformats.org/drawingml/2006/table">
            <a:tbl>
              <a:tblPr/>
              <a:tblGrid>
                <a:gridCol w="8521700">
                  <a:extLst>
                    <a:ext uri="{9D8B030D-6E8A-4147-A177-3AD203B41FA5}">
                      <a16:colId xmlns:a16="http://schemas.microsoft.com/office/drawing/2014/main" val="315929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97681"/>
                  </a:ext>
                </a:extLst>
              </a:tr>
            </a:tbl>
          </a:graphicData>
        </a:graphic>
      </p:graphicFrame>
      <p:sp>
        <p:nvSpPr>
          <p:cNvPr id="3" name="Google Shape;159;p16">
            <a:extLst>
              <a:ext uri="{FF2B5EF4-FFF2-40B4-BE49-F238E27FC236}">
                <a16:creationId xmlns:a16="http://schemas.microsoft.com/office/drawing/2014/main" id="{F0AC0C90-747A-2CAF-E828-A440F776DEA7}"/>
              </a:ext>
            </a:extLst>
          </p:cNvPr>
          <p:cNvSpPr/>
          <p:nvPr/>
        </p:nvSpPr>
        <p:spPr>
          <a:xfrm>
            <a:off x="426601" y="341860"/>
            <a:ext cx="8325816" cy="4553543"/>
          </a:xfrm>
          <a:prstGeom prst="rect">
            <a:avLst/>
          </a:prstGeom>
          <a:solidFill>
            <a:schemeClr val="tx1">
              <a:lumMod val="95000"/>
            </a:schemeClr>
          </a:solidFill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Google Shape;88;p15">
            <a:extLst>
              <a:ext uri="{FF2B5EF4-FFF2-40B4-BE49-F238E27FC236}">
                <a16:creationId xmlns:a16="http://schemas.microsoft.com/office/drawing/2014/main" id="{6E914474-D4A1-BC5D-1405-92A93F513ED9}"/>
              </a:ext>
            </a:extLst>
          </p:cNvPr>
          <p:cNvSpPr/>
          <p:nvPr/>
        </p:nvSpPr>
        <p:spPr>
          <a:xfrm rot="10800000" flipV="1">
            <a:off x="409091" y="341861"/>
            <a:ext cx="8325815" cy="345798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600" dirty="0"/>
              <a:t>    </a:t>
            </a:r>
            <a:r>
              <a:rPr lang="en-US" sz="1600" b="1" dirty="0">
                <a:solidFill>
                  <a:schemeClr val="tx1"/>
                </a:solidFill>
              </a:rPr>
              <a:t>Features                   </a:t>
            </a:r>
            <a:r>
              <a:rPr lang="en-IN" sz="1600" b="1" dirty="0">
                <a:solidFill>
                  <a:schemeClr val="tx1"/>
                </a:solidFill>
              </a:rPr>
              <a:t>Relational (SQL)                                   NoSQL (Non-Relational) </a:t>
            </a:r>
            <a:endParaRPr sz="1600" b="1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6C99609-28A1-BE94-71C8-CDD457852C7E}"/>
              </a:ext>
            </a:extLst>
          </p:cNvPr>
          <p:cNvCxnSpPr>
            <a:cxnSpLocks/>
          </p:cNvCxnSpPr>
          <p:nvPr/>
        </p:nvCxnSpPr>
        <p:spPr>
          <a:xfrm>
            <a:off x="1993692" y="341860"/>
            <a:ext cx="0" cy="456542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52B4D7A-ACB9-F1C4-F680-C96E8F3EA23A}"/>
              </a:ext>
            </a:extLst>
          </p:cNvPr>
          <p:cNvCxnSpPr>
            <a:cxnSpLocks/>
          </p:cNvCxnSpPr>
          <p:nvPr/>
        </p:nvCxnSpPr>
        <p:spPr>
          <a:xfrm>
            <a:off x="5488899" y="353737"/>
            <a:ext cx="0" cy="455354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A686B7D-E721-39FC-5B8D-A6593CF70510}"/>
              </a:ext>
            </a:extLst>
          </p:cNvPr>
          <p:cNvCxnSpPr>
            <a:cxnSpLocks/>
          </p:cNvCxnSpPr>
          <p:nvPr/>
        </p:nvCxnSpPr>
        <p:spPr>
          <a:xfrm flipH="1">
            <a:off x="409091" y="1189444"/>
            <a:ext cx="8325815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EA122AC-B614-0EC9-3A6B-B88A0409C726}"/>
              </a:ext>
            </a:extLst>
          </p:cNvPr>
          <p:cNvSpPr txBox="1"/>
          <p:nvPr/>
        </p:nvSpPr>
        <p:spPr>
          <a:xfrm>
            <a:off x="479685" y="736766"/>
            <a:ext cx="1451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Structure </a:t>
            </a:r>
            <a:endParaRPr lang="en-IN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1D1080-D749-F98B-3E30-BDC0D39BA122}"/>
              </a:ext>
            </a:extLst>
          </p:cNvPr>
          <p:cNvSpPr txBox="1"/>
          <p:nvPr/>
        </p:nvSpPr>
        <p:spPr>
          <a:xfrm>
            <a:off x="2056251" y="731528"/>
            <a:ext cx="3362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Structured (Table-based)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60B56D-3D94-C6C3-5E41-1A4B80A1B17C}"/>
              </a:ext>
            </a:extLst>
          </p:cNvPr>
          <p:cNvSpPr txBox="1"/>
          <p:nvPr/>
        </p:nvSpPr>
        <p:spPr>
          <a:xfrm flipH="1">
            <a:off x="5586839" y="731527"/>
            <a:ext cx="3077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Unstructured (Document, Key-Value)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55AABBA-A4E7-4250-F427-FA11121FD3B2}"/>
              </a:ext>
            </a:extLst>
          </p:cNvPr>
          <p:cNvCxnSpPr>
            <a:cxnSpLocks/>
          </p:cNvCxnSpPr>
          <p:nvPr/>
        </p:nvCxnSpPr>
        <p:spPr>
          <a:xfrm flipH="1">
            <a:off x="409092" y="1769063"/>
            <a:ext cx="8325815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6AD42FF-CF45-D11F-8731-DD45BE96C966}"/>
              </a:ext>
            </a:extLst>
          </p:cNvPr>
          <p:cNvSpPr txBox="1"/>
          <p:nvPr/>
        </p:nvSpPr>
        <p:spPr>
          <a:xfrm>
            <a:off x="479685" y="1326630"/>
            <a:ext cx="1353513" cy="307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Schema</a:t>
            </a:r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FF0547-FBF7-465A-9AA0-CCBD3FF2A14A}"/>
              </a:ext>
            </a:extLst>
          </p:cNvPr>
          <p:cNvSpPr txBox="1"/>
          <p:nvPr/>
        </p:nvSpPr>
        <p:spPr>
          <a:xfrm>
            <a:off x="2128603" y="1326630"/>
            <a:ext cx="3020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Rigid (Defined upfront)    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FE80D2-D166-2A59-D76F-1F4E1887A1B6}"/>
              </a:ext>
            </a:extLst>
          </p:cNvPr>
          <p:cNvSpPr txBox="1"/>
          <p:nvPr/>
        </p:nvSpPr>
        <p:spPr>
          <a:xfrm>
            <a:off x="5657516" y="1365507"/>
            <a:ext cx="3020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Flexible (Dynamic)</a:t>
            </a:r>
            <a:endParaRPr lang="en-I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DB2B8C2-F0EE-DFE7-11C4-FBCA6258AC1F}"/>
              </a:ext>
            </a:extLst>
          </p:cNvPr>
          <p:cNvSpPr txBox="1"/>
          <p:nvPr/>
        </p:nvSpPr>
        <p:spPr>
          <a:xfrm>
            <a:off x="539646" y="1768580"/>
            <a:ext cx="1285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Query        Language </a:t>
            </a:r>
            <a:endParaRPr lang="en-IN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C3CEB3-478D-44AC-3456-2B02B18B4226}"/>
              </a:ext>
            </a:extLst>
          </p:cNvPr>
          <p:cNvSpPr txBox="1"/>
          <p:nvPr/>
        </p:nvSpPr>
        <p:spPr>
          <a:xfrm>
            <a:off x="2267261" y="1937113"/>
            <a:ext cx="2743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SQL (Standardized)</a:t>
            </a:r>
            <a:endParaRPr lang="en-I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C49E83-0AB3-CC87-8CBB-C8684EA1FA9B}"/>
              </a:ext>
            </a:extLst>
          </p:cNvPr>
          <p:cNvSpPr txBox="1"/>
          <p:nvPr/>
        </p:nvSpPr>
        <p:spPr>
          <a:xfrm>
            <a:off x="5657516" y="1807940"/>
            <a:ext cx="2699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Varies (UnQL, JSON, API-based)</a:t>
            </a:r>
            <a:endParaRPr lang="en-IN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1405CBA-F762-52E0-BA56-B00739BD595E}"/>
              </a:ext>
            </a:extLst>
          </p:cNvPr>
          <p:cNvCxnSpPr>
            <a:cxnSpLocks/>
          </p:cNvCxnSpPr>
          <p:nvPr/>
        </p:nvCxnSpPr>
        <p:spPr>
          <a:xfrm flipH="1">
            <a:off x="400964" y="2319181"/>
            <a:ext cx="8325815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3C56775-9F52-45A4-2504-A72163B9E224}"/>
              </a:ext>
            </a:extLst>
          </p:cNvPr>
          <p:cNvCxnSpPr>
            <a:cxnSpLocks/>
          </p:cNvCxnSpPr>
          <p:nvPr/>
        </p:nvCxnSpPr>
        <p:spPr>
          <a:xfrm flipH="1">
            <a:off x="409092" y="2853830"/>
            <a:ext cx="8325815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DAE5173-F33F-0A80-B34B-01E9AE4BC58C}"/>
              </a:ext>
            </a:extLst>
          </p:cNvPr>
          <p:cNvSpPr txBox="1"/>
          <p:nvPr/>
        </p:nvSpPr>
        <p:spPr>
          <a:xfrm>
            <a:off x="479685" y="2458387"/>
            <a:ext cx="1345383" cy="305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Scaling</a:t>
            </a:r>
            <a:endParaRPr lang="en-IN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150771-EC42-08F9-D064-15988CA44F67}"/>
              </a:ext>
            </a:extLst>
          </p:cNvPr>
          <p:cNvSpPr txBox="1"/>
          <p:nvPr/>
        </p:nvSpPr>
        <p:spPr>
          <a:xfrm>
            <a:off x="2219175" y="2391989"/>
            <a:ext cx="2791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Vertical (Add power to server)</a:t>
            </a:r>
            <a:endParaRPr lang="en-IN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275F2B-F20B-7BEE-6582-0F53F858C88E}"/>
              </a:ext>
            </a:extLst>
          </p:cNvPr>
          <p:cNvSpPr txBox="1"/>
          <p:nvPr/>
        </p:nvSpPr>
        <p:spPr>
          <a:xfrm>
            <a:off x="5586840" y="2421331"/>
            <a:ext cx="2957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Horizontal (Add more servers)</a:t>
            </a:r>
            <a:endParaRPr lang="en-IN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941CE4E-E03B-885E-AF77-C199C9A7CD80}"/>
              </a:ext>
            </a:extLst>
          </p:cNvPr>
          <p:cNvCxnSpPr>
            <a:cxnSpLocks/>
          </p:cNvCxnSpPr>
          <p:nvPr/>
        </p:nvCxnSpPr>
        <p:spPr>
          <a:xfrm flipH="1">
            <a:off x="400963" y="3597639"/>
            <a:ext cx="833394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97127D4-076B-424A-586B-B54ED6BCFAE3}"/>
              </a:ext>
            </a:extLst>
          </p:cNvPr>
          <p:cNvSpPr txBox="1"/>
          <p:nvPr/>
        </p:nvSpPr>
        <p:spPr>
          <a:xfrm>
            <a:off x="531523" y="2917723"/>
            <a:ext cx="1399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Relationships</a:t>
            </a:r>
            <a:endParaRPr lang="en-IN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38F601C-4654-6C5E-31C9-70DACC9838C4}"/>
              </a:ext>
            </a:extLst>
          </p:cNvPr>
          <p:cNvSpPr txBox="1"/>
          <p:nvPr/>
        </p:nvSpPr>
        <p:spPr>
          <a:xfrm>
            <a:off x="2251020" y="2944002"/>
            <a:ext cx="2988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Supported via JOINS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8766A4-079F-FB19-2B1D-5C16D97FB548}"/>
              </a:ext>
            </a:extLst>
          </p:cNvPr>
          <p:cNvSpPr txBox="1"/>
          <p:nvPr/>
        </p:nvSpPr>
        <p:spPr>
          <a:xfrm>
            <a:off x="5657516" y="2917723"/>
            <a:ext cx="2796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heavily supported (often denormalized)</a:t>
            </a:r>
            <a:endParaRPr lang="en-IN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48CEC6D-7F1E-4183-809A-CB35799588C0}"/>
              </a:ext>
            </a:extLst>
          </p:cNvPr>
          <p:cNvCxnSpPr>
            <a:cxnSpLocks/>
          </p:cNvCxnSpPr>
          <p:nvPr/>
        </p:nvCxnSpPr>
        <p:spPr>
          <a:xfrm flipH="1">
            <a:off x="433465" y="4283593"/>
            <a:ext cx="827706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1A1C478-89AF-C902-6C4F-5AF536F8F76C}"/>
              </a:ext>
            </a:extLst>
          </p:cNvPr>
          <p:cNvSpPr txBox="1"/>
          <p:nvPr/>
        </p:nvSpPr>
        <p:spPr>
          <a:xfrm>
            <a:off x="539646" y="3749197"/>
            <a:ext cx="12854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Transactions</a:t>
            </a:r>
            <a:endParaRPr lang="en-IN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3418586-8211-11CB-C37B-31EB0E4F8486}"/>
              </a:ext>
            </a:extLst>
          </p:cNvPr>
          <p:cNvSpPr txBox="1"/>
          <p:nvPr/>
        </p:nvSpPr>
        <p:spPr>
          <a:xfrm>
            <a:off x="2219175" y="3749197"/>
            <a:ext cx="3101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ACID (Strong consistency)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EB5CB5-08EB-65DF-48C7-F94068C2D4E1}"/>
              </a:ext>
            </a:extLst>
          </p:cNvPr>
          <p:cNvSpPr txBox="1"/>
          <p:nvPr/>
        </p:nvSpPr>
        <p:spPr>
          <a:xfrm>
            <a:off x="5657516" y="3749197"/>
            <a:ext cx="2699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BASE (Eventual consistency)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D25C190-0F5C-C78F-2931-4C9411DAAB9B}"/>
              </a:ext>
            </a:extLst>
          </p:cNvPr>
          <p:cNvSpPr txBox="1"/>
          <p:nvPr/>
        </p:nvSpPr>
        <p:spPr>
          <a:xfrm>
            <a:off x="539646" y="4474568"/>
            <a:ext cx="1311066" cy="307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Best for</a:t>
            </a:r>
            <a:endParaRPr lang="en-IN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7FEB5A1-DB90-EEB0-83AB-A18AB66EF675}"/>
              </a:ext>
            </a:extLst>
          </p:cNvPr>
          <p:cNvSpPr txBox="1"/>
          <p:nvPr/>
        </p:nvSpPr>
        <p:spPr>
          <a:xfrm>
            <a:off x="2219175" y="4474568"/>
            <a:ext cx="3101097" cy="30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Complex queries, financial systems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24D1644-E0FF-57A1-97BB-7E037B04FF4E}"/>
              </a:ext>
            </a:extLst>
          </p:cNvPr>
          <p:cNvSpPr txBox="1"/>
          <p:nvPr/>
        </p:nvSpPr>
        <p:spPr>
          <a:xfrm>
            <a:off x="5604351" y="4341448"/>
            <a:ext cx="3059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throughput, massive data, agility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6156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/>
          <p:nvPr/>
        </p:nvSpPr>
        <p:spPr>
          <a:xfrm>
            <a:off x="0" y="0"/>
            <a:ext cx="9144000" cy="599607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2200"/>
              <a:buFont typeface="Calibri"/>
              <a:buNone/>
            </a:pPr>
            <a:r>
              <a:rPr lang="en-US" sz="2200" b="1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KEYS IN DATABASE :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468443" y="653664"/>
            <a:ext cx="8309797" cy="840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FA3B8"/>
              </a:buClr>
              <a:buSzPts val="1300"/>
            </a:pP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Keys in DBMS make sure of data integrity, uniqueness, and the quick retrieval of information. Key is attribute in table</a:t>
            </a:r>
          </a:p>
          <a:p>
            <a:pPr lvl="0">
              <a:buClr>
                <a:srgbClr val="8FA3B8"/>
              </a:buClr>
              <a:buSzPts val="1300"/>
            </a:pPr>
            <a:endParaRPr lang="en-US" sz="1200" b="0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8FA3B8"/>
              </a:buClr>
              <a:buSzPts val="1300"/>
            </a:pPr>
            <a:r>
              <a:rPr lang="en-US" sz="1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TYPES OF KEYS: </a:t>
            </a:r>
          </a:p>
        </p:txBody>
      </p:sp>
      <p:sp>
        <p:nvSpPr>
          <p:cNvPr id="159" name="Google Shape;159;p16"/>
          <p:cNvSpPr/>
          <p:nvPr/>
        </p:nvSpPr>
        <p:spPr>
          <a:xfrm>
            <a:off x="320040" y="1623434"/>
            <a:ext cx="1920240" cy="3383280"/>
          </a:xfrm>
          <a:prstGeom prst="rect">
            <a:avLst/>
          </a:prstGeom>
          <a:solidFill>
            <a:srgbClr val="162538"/>
          </a:solidFill>
          <a:ln w="254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320040" y="1623434"/>
            <a:ext cx="1920240" cy="452704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320040" y="1623434"/>
            <a:ext cx="1920240" cy="47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0F4FF"/>
              </a:buClr>
              <a:buSzPts val="1100"/>
            </a:pPr>
            <a:r>
              <a:rPr lang="en-IN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Candidate Key</a:t>
            </a:r>
            <a:endParaRPr b="1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365759" y="2271009"/>
            <a:ext cx="1785329" cy="2615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1100"/>
            </a:pPr>
            <a:r>
              <a:rPr lang="en-US" sz="13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 candidate key refers to a group of attributes capable of uniquely identifying a record within a table. Among these, one is selected to serve as the primary key.</a:t>
            </a:r>
          </a:p>
          <a:p>
            <a:pPr lvl="0">
              <a:buClr>
                <a:srgbClr val="F0F4FF"/>
              </a:buClr>
              <a:buSzPts val="1100"/>
            </a:pPr>
            <a:endParaRPr lang="en-US" sz="1300" b="0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F0F4FF"/>
              </a:buClr>
              <a:buSzPts val="1100"/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Ex:     </a:t>
            </a: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For student possible attributes for candidate key could be </a:t>
            </a:r>
          </a:p>
          <a:p>
            <a:pPr lvl="0">
              <a:buClr>
                <a:srgbClr val="F0F4FF"/>
              </a:buClr>
              <a:buSzPts val="1100"/>
            </a:pPr>
            <a:r>
              <a:rPr lang="en-IN" sz="1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Student ID , Student Roll No. </a:t>
            </a:r>
            <a:endParaRPr sz="1200" b="0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2468880" y="1612944"/>
            <a:ext cx="1920240" cy="3393770"/>
          </a:xfrm>
          <a:prstGeom prst="rect">
            <a:avLst/>
          </a:prstGeom>
          <a:solidFill>
            <a:srgbClr val="162538"/>
          </a:solidFill>
          <a:ln w="254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2468880" y="1634864"/>
            <a:ext cx="1920240" cy="452704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2468880" y="1623434"/>
            <a:ext cx="1920240" cy="452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0F4FF"/>
              </a:buClr>
              <a:buSzPts val="1100"/>
            </a:pPr>
            <a:r>
              <a:rPr lang="en-IN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Primary Key</a:t>
            </a:r>
            <a:endParaRPr b="1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2468880" y="2271009"/>
            <a:ext cx="1765841" cy="2615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1100"/>
            </a:pP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 primary key is a key which uniquely identifies each record in a table. It ensures that each tuple or record can be uniquely identified within the table. </a:t>
            </a:r>
          </a:p>
          <a:p>
            <a:pPr lvl="0">
              <a:buClr>
                <a:srgbClr val="F0F4FF"/>
              </a:buClr>
              <a:buSzPts val="1100"/>
            </a:pPr>
            <a:endParaRPr lang="en-US" sz="12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lvl="0">
              <a:buClr>
                <a:srgbClr val="F0F4FF"/>
              </a:buClr>
              <a:buSzPts val="1100"/>
            </a:pPr>
            <a:endParaRPr lang="en-US" sz="12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lvl="0">
              <a:buClr>
                <a:srgbClr val="F0F4FF"/>
              </a:buClr>
              <a:buSzPts val="1100"/>
            </a:pP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It is always </a:t>
            </a:r>
            <a:r>
              <a:rPr lang="en-US" sz="1200" b="1" dirty="0">
                <a:solidFill>
                  <a:schemeClr val="tx1">
                    <a:lumMod val="95000"/>
                  </a:schemeClr>
                </a:solidFill>
              </a:rPr>
              <a:t>Unique+ Not null</a:t>
            </a:r>
          </a:p>
          <a:p>
            <a:pPr lvl="0">
              <a:buClr>
                <a:srgbClr val="F0F4FF"/>
              </a:buClr>
              <a:buSzPts val="1100"/>
            </a:pPr>
            <a:endParaRPr lang="en-US" sz="1200" b="1" u="none" strike="noStrike" cap="none" dirty="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F0F4FF"/>
              </a:buClr>
              <a:buSzPts val="1100"/>
            </a:pPr>
            <a:endParaRPr lang="en-US" sz="1200" b="1" dirty="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F0F4FF"/>
              </a:buClr>
              <a:buSzPts val="1100"/>
            </a:pPr>
            <a:endParaRPr sz="1200" b="1" u="none" strike="noStrike" cap="none" dirty="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4617720" y="1623434"/>
            <a:ext cx="1920240" cy="3383280"/>
          </a:xfrm>
          <a:prstGeom prst="rect">
            <a:avLst/>
          </a:prstGeom>
          <a:solidFill>
            <a:srgbClr val="162538"/>
          </a:solidFill>
          <a:ln w="254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617720" y="1623434"/>
            <a:ext cx="1920240" cy="475564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4617720" y="1623434"/>
            <a:ext cx="1920240" cy="452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0F4FF"/>
              </a:buClr>
              <a:buSzPts val="1100"/>
            </a:pPr>
            <a:r>
              <a:rPr lang="en-IN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Foreign Key</a:t>
            </a:r>
            <a:endParaRPr b="1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4617718" y="1634864"/>
            <a:ext cx="1920241" cy="325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1100"/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 foreign key is a field in a table that refers to the primary key in another table. It establishes a relationship between two tables.</a:t>
            </a:r>
          </a:p>
          <a:p>
            <a:pPr lvl="0">
              <a:buClr>
                <a:srgbClr val="F0F4FF"/>
              </a:buClr>
              <a:buSzPts val="1100"/>
            </a:pPr>
            <a:endParaRPr lang="en-US" b="0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F0F4FF"/>
              </a:buClr>
              <a:buSzPts val="1100"/>
            </a:pPr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F0F4FF"/>
              </a:buClr>
              <a:buSzPts val="1100"/>
            </a:pPr>
            <a:endParaRPr b="0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6766560" y="1623434"/>
            <a:ext cx="1920240" cy="3383280"/>
          </a:xfrm>
          <a:prstGeom prst="rect">
            <a:avLst/>
          </a:prstGeom>
          <a:solidFill>
            <a:srgbClr val="162538"/>
          </a:solidFill>
          <a:ln w="254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6766560" y="1623434"/>
            <a:ext cx="1920240" cy="475564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6766560" y="1623434"/>
            <a:ext cx="1920240" cy="47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0F4FF"/>
              </a:buClr>
              <a:buSzPts val="1100"/>
            </a:pPr>
            <a:r>
              <a:rPr lang="en-IN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Super Key</a:t>
            </a:r>
            <a:endParaRPr b="1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6828020" y="1289155"/>
            <a:ext cx="1721620" cy="3597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1100"/>
            </a:pP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 </a:t>
            </a:r>
            <a:r>
              <a:rPr lang="en-US" sz="1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Super Key</a:t>
            </a: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 in DBMS is a group of one or more attributes in a table that can uniquely identify every row in that table. It ensures no two rows have the same combination of values for those attributes.</a:t>
            </a:r>
            <a:endParaRPr sz="1200" b="0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AB90A6-5EF8-72EE-11A3-85BF7B468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862187"/>
              </p:ext>
            </p:extLst>
          </p:nvPr>
        </p:nvGraphicFramePr>
        <p:xfrm>
          <a:off x="1348739" y="960120"/>
          <a:ext cx="6362700" cy="14376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590675">
                  <a:extLst>
                    <a:ext uri="{9D8B030D-6E8A-4147-A177-3AD203B41FA5}">
                      <a16:colId xmlns:a16="http://schemas.microsoft.com/office/drawing/2014/main" val="4256229274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1762716125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752200945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3202020228"/>
                    </a:ext>
                  </a:extLst>
                </a:gridCol>
              </a:tblGrid>
              <a:tr h="4597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 No.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Aadhar No.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Department ID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984636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    25EE10121</a:t>
                      </a:r>
                      <a:endParaRPr lang="en-IN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Pihu</a:t>
                      </a:r>
                      <a:endParaRPr lang="en-IN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4422 0567 5450</a:t>
                      </a:r>
                      <a:endParaRPr lang="en-IN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 EE12 </a:t>
                      </a:r>
                      <a:endParaRPr lang="en-IN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216559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24HS10132</a:t>
                      </a:r>
                      <a:endParaRPr lang="en-IN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       Harshit </a:t>
                      </a:r>
                      <a:endParaRPr lang="en-IN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 4434 2267 5433</a:t>
                      </a:r>
                      <a:endParaRPr lang="en-IN" dirty="0">
                        <a:solidFill>
                          <a:srgbClr val="000000"/>
                        </a:solidFill>
                      </a:endParaRPr>
                    </a:p>
                    <a:p>
                      <a:endParaRPr lang="en-IN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Ec02</a:t>
                      </a:r>
                      <a:endParaRPr lang="en-IN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66135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E644C1-7DC5-96AA-B134-D44C96F9C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495401"/>
              </p:ext>
            </p:extLst>
          </p:nvPr>
        </p:nvGraphicFramePr>
        <p:xfrm>
          <a:off x="2987040" y="3032760"/>
          <a:ext cx="4533900" cy="141732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202180">
                  <a:extLst>
                    <a:ext uri="{9D8B030D-6E8A-4147-A177-3AD203B41FA5}">
                      <a16:colId xmlns:a16="http://schemas.microsoft.com/office/drawing/2014/main" val="130309653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3153676491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Department 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Year of Passing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98122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EE12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2029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97323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Ec02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2028</a:t>
                      </a:r>
                      <a:endParaRPr lang="en-IN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81251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9175D4-20F0-A6DB-D2B4-C98F9F2B9AE1}"/>
              </a:ext>
            </a:extLst>
          </p:cNvPr>
          <p:cNvCxnSpPr>
            <a:cxnSpLocks/>
          </p:cNvCxnSpPr>
          <p:nvPr/>
        </p:nvCxnSpPr>
        <p:spPr>
          <a:xfrm>
            <a:off x="2095500" y="693420"/>
            <a:ext cx="0" cy="2667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9C9EF0-CA84-A290-1160-28C69AFED849}"/>
              </a:ext>
            </a:extLst>
          </p:cNvPr>
          <p:cNvCxnSpPr>
            <a:cxnSpLocks/>
          </p:cNvCxnSpPr>
          <p:nvPr/>
        </p:nvCxnSpPr>
        <p:spPr>
          <a:xfrm flipV="1">
            <a:off x="5166360" y="674370"/>
            <a:ext cx="0" cy="25908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427285-83BE-5A44-9635-0D5160655C35}"/>
              </a:ext>
            </a:extLst>
          </p:cNvPr>
          <p:cNvCxnSpPr>
            <a:cxnSpLocks/>
          </p:cNvCxnSpPr>
          <p:nvPr/>
        </p:nvCxnSpPr>
        <p:spPr>
          <a:xfrm flipH="1">
            <a:off x="2095500" y="674370"/>
            <a:ext cx="3093720" cy="1905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6EECBE0-ED06-C50F-1B87-81951D9F568D}"/>
              </a:ext>
            </a:extLst>
          </p:cNvPr>
          <p:cNvCxnSpPr>
            <a:cxnSpLocks/>
          </p:cNvCxnSpPr>
          <p:nvPr/>
        </p:nvCxnSpPr>
        <p:spPr>
          <a:xfrm>
            <a:off x="5166360" y="468630"/>
            <a:ext cx="0" cy="2057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2006F92-576A-D660-EAC9-58EF65AA484B}"/>
              </a:ext>
            </a:extLst>
          </p:cNvPr>
          <p:cNvSpPr txBox="1"/>
          <p:nvPr/>
        </p:nvSpPr>
        <p:spPr>
          <a:xfrm>
            <a:off x="4145280" y="161926"/>
            <a:ext cx="2087880" cy="30777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Candidate Key</a:t>
            </a:r>
            <a:endParaRPr lang="en-IN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21705D8-1100-4E98-2E34-3B9C6B19467D}"/>
              </a:ext>
            </a:extLst>
          </p:cNvPr>
          <p:cNvCxnSpPr>
            <a:cxnSpLocks/>
          </p:cNvCxnSpPr>
          <p:nvPr/>
        </p:nvCxnSpPr>
        <p:spPr>
          <a:xfrm flipH="1">
            <a:off x="5189220" y="674370"/>
            <a:ext cx="18211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658AB62-7D0E-2BFE-370F-68BA2DCCA935}"/>
              </a:ext>
            </a:extLst>
          </p:cNvPr>
          <p:cNvCxnSpPr>
            <a:cxnSpLocks/>
          </p:cNvCxnSpPr>
          <p:nvPr/>
        </p:nvCxnSpPr>
        <p:spPr>
          <a:xfrm flipV="1">
            <a:off x="6964680" y="683895"/>
            <a:ext cx="0" cy="2495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C6F7F02-90A5-5DD3-EA5B-E010E4FE6964}"/>
              </a:ext>
            </a:extLst>
          </p:cNvPr>
          <p:cNvCxnSpPr>
            <a:cxnSpLocks/>
          </p:cNvCxnSpPr>
          <p:nvPr/>
        </p:nvCxnSpPr>
        <p:spPr>
          <a:xfrm>
            <a:off x="1866900" y="2397760"/>
            <a:ext cx="0" cy="2667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E7322C8-8642-26BF-C97D-EC4A9911FEF7}"/>
              </a:ext>
            </a:extLst>
          </p:cNvPr>
          <p:cNvSpPr txBox="1"/>
          <p:nvPr/>
        </p:nvSpPr>
        <p:spPr>
          <a:xfrm>
            <a:off x="7856221" y="2310140"/>
            <a:ext cx="960119" cy="5232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Foreign Key 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7A78B1-57B9-16C8-95B3-618E98E46FF1}"/>
              </a:ext>
            </a:extLst>
          </p:cNvPr>
          <p:cNvSpPr txBox="1"/>
          <p:nvPr/>
        </p:nvSpPr>
        <p:spPr>
          <a:xfrm>
            <a:off x="1207770" y="2664461"/>
            <a:ext cx="1512568" cy="30777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Primary Key</a:t>
            </a:r>
            <a:endParaRPr lang="en-IN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171C321-0CB3-EB8D-EB49-FB5AF0EE7A66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7711439" y="1169670"/>
            <a:ext cx="624842" cy="114047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DD2EB32-5CE1-126C-8DD3-96ED9D18AF0A}"/>
              </a:ext>
            </a:extLst>
          </p:cNvPr>
          <p:cNvCxnSpPr>
            <a:cxnSpLocks/>
          </p:cNvCxnSpPr>
          <p:nvPr/>
        </p:nvCxnSpPr>
        <p:spPr>
          <a:xfrm flipV="1">
            <a:off x="5166360" y="453828"/>
            <a:ext cx="0" cy="37294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07CF7054-683A-BBFE-70B5-690361E19AF8}"/>
              </a:ext>
            </a:extLst>
          </p:cNvPr>
          <p:cNvSpPr/>
          <p:nvPr/>
        </p:nvSpPr>
        <p:spPr>
          <a:xfrm>
            <a:off x="264795" y="3505638"/>
            <a:ext cx="2316480" cy="163785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20856FA-CB07-255E-4F60-B28FA44E4923}"/>
              </a:ext>
            </a:extLst>
          </p:cNvPr>
          <p:cNvSpPr/>
          <p:nvPr/>
        </p:nvSpPr>
        <p:spPr>
          <a:xfrm>
            <a:off x="969646" y="4190562"/>
            <a:ext cx="906778" cy="952938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D799BB8-437C-E33A-BEEE-806D5151B269}"/>
              </a:ext>
            </a:extLst>
          </p:cNvPr>
          <p:cNvSpPr/>
          <p:nvPr/>
        </p:nvSpPr>
        <p:spPr>
          <a:xfrm>
            <a:off x="600075" y="3835400"/>
            <a:ext cx="1645919" cy="1308091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83544B-969C-61F6-BD4A-864E7BCDEFD5}"/>
              </a:ext>
            </a:extLst>
          </p:cNvPr>
          <p:cNvSpPr txBox="1"/>
          <p:nvPr/>
        </p:nvSpPr>
        <p:spPr>
          <a:xfrm>
            <a:off x="906780" y="3551316"/>
            <a:ext cx="1432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 Key </a:t>
            </a:r>
            <a:endParaRPr lang="en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4E626D-BC00-9FF3-8877-8456AF94FB93}"/>
              </a:ext>
            </a:extLst>
          </p:cNvPr>
          <p:cNvSpPr txBox="1"/>
          <p:nvPr/>
        </p:nvSpPr>
        <p:spPr>
          <a:xfrm>
            <a:off x="822961" y="3904771"/>
            <a:ext cx="1828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Candidate Key</a:t>
            </a: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09A813-1C04-7E93-B6D5-88ABF931EDD9}"/>
              </a:ext>
            </a:extLst>
          </p:cNvPr>
          <p:cNvSpPr txBox="1"/>
          <p:nvPr/>
        </p:nvSpPr>
        <p:spPr>
          <a:xfrm>
            <a:off x="1051560" y="4325359"/>
            <a:ext cx="81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Primary Key </a:t>
            </a:r>
            <a:endParaRPr lang="en-IN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86924B-88C6-2D3E-5AB6-30C4CF53216B}"/>
              </a:ext>
            </a:extLst>
          </p:cNvPr>
          <p:cNvCxnSpPr>
            <a:cxnSpLocks/>
          </p:cNvCxnSpPr>
          <p:nvPr/>
        </p:nvCxnSpPr>
        <p:spPr>
          <a:xfrm flipV="1">
            <a:off x="4465320" y="2633148"/>
            <a:ext cx="3390901" cy="37339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0638AA7-8074-72E7-9EFE-693FC725F2A8}"/>
              </a:ext>
            </a:extLst>
          </p:cNvPr>
          <p:cNvCxnSpPr>
            <a:cxnSpLocks/>
          </p:cNvCxnSpPr>
          <p:nvPr/>
        </p:nvCxnSpPr>
        <p:spPr>
          <a:xfrm>
            <a:off x="1866900" y="2397760"/>
            <a:ext cx="9524" cy="26670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1C47618C-704F-A502-C569-59D7AA2B5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1C03F66E-470A-B557-CE6F-AAA045BF19C6}"/>
              </a:ext>
            </a:extLst>
          </p:cNvPr>
          <p:cNvSpPr/>
          <p:nvPr/>
        </p:nvSpPr>
        <p:spPr>
          <a:xfrm>
            <a:off x="0" y="1"/>
            <a:ext cx="9144000" cy="57712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6">
            <a:extLst>
              <a:ext uri="{FF2B5EF4-FFF2-40B4-BE49-F238E27FC236}">
                <a16:creationId xmlns:a16="http://schemas.microsoft.com/office/drawing/2014/main" id="{B5D6C15D-ADA9-EC2E-73F4-CB213985C2D6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0F4FF"/>
              </a:buClr>
              <a:buSzPts val="2200"/>
            </a:pPr>
            <a:r>
              <a:rPr lang="en-IN" sz="3200" b="1" dirty="0">
                <a:solidFill>
                  <a:schemeClr val="tx1"/>
                </a:solidFill>
              </a:rPr>
              <a:t>ER Model</a:t>
            </a:r>
            <a:r>
              <a:rPr lang="en-US" sz="3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3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>
            <a:extLst>
              <a:ext uri="{FF2B5EF4-FFF2-40B4-BE49-F238E27FC236}">
                <a16:creationId xmlns:a16="http://schemas.microsoft.com/office/drawing/2014/main" id="{08BA895B-A484-7A9A-2DDC-D55CB05B2894}"/>
              </a:ext>
            </a:extLst>
          </p:cNvPr>
          <p:cNvSpPr/>
          <p:nvPr/>
        </p:nvSpPr>
        <p:spPr>
          <a:xfrm>
            <a:off x="217359" y="899410"/>
            <a:ext cx="7877330" cy="899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fontAlgn="base"/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The Entity-Relationship Model (ER Model) is a conceptual model for designing a database. </a:t>
            </a:r>
          </a:p>
          <a:p>
            <a:pPr fontAlgn="base"/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This model represents the logical structure of a database, including entities, their attributes, and relationships between them.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2">
                    <a:lumMod val="25000"/>
                    <a:lumOff val="75000"/>
                  </a:schemeClr>
                </a:solidFill>
              </a:rPr>
              <a:t>Entity:</a:t>
            </a:r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 An object that is stored as data.   Ex : Name etc.  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2">
                    <a:lumMod val="25000"/>
                    <a:lumOff val="75000"/>
                  </a:schemeClr>
                </a:solidFill>
              </a:rPr>
              <a:t>Attribute: </a:t>
            </a:r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Properties that describe an entity</a:t>
            </a:r>
            <a:r>
              <a:rPr lang="en-US" i="1" dirty="0">
                <a:solidFill>
                  <a:schemeClr val="bg2">
                    <a:lumMod val="25000"/>
                    <a:lumOff val="75000"/>
                  </a:schemeClr>
                </a:solidFill>
              </a:rPr>
              <a:t>.   </a:t>
            </a:r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Ex: Roll no. , Department ID , Aadhar No. etc. 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Relationship: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 A connection between entities. Ex: Student belonging to specific department .</a:t>
            </a:r>
            <a:b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7866DE-F4F3-3EC0-5313-9D5AF91B99E9}"/>
              </a:ext>
            </a:extLst>
          </p:cNvPr>
          <p:cNvSpPr txBox="1"/>
          <p:nvPr/>
        </p:nvSpPr>
        <p:spPr>
          <a:xfrm>
            <a:off x="3477718" y="2121108"/>
            <a:ext cx="1236689" cy="307777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ER Model </a:t>
            </a:r>
            <a:endParaRPr lang="en-IN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CDE31A4-C3C2-8C6F-94DA-676ECC1B0743}"/>
              </a:ext>
            </a:extLst>
          </p:cNvPr>
          <p:cNvCxnSpPr>
            <a:cxnSpLocks/>
          </p:cNvCxnSpPr>
          <p:nvPr/>
        </p:nvCxnSpPr>
        <p:spPr>
          <a:xfrm>
            <a:off x="4062334" y="2428885"/>
            <a:ext cx="0" cy="82446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6BE392-2E54-014F-29BB-77BBCBE5B126}"/>
              </a:ext>
            </a:extLst>
          </p:cNvPr>
          <p:cNvCxnSpPr>
            <a:cxnSpLocks/>
          </p:cNvCxnSpPr>
          <p:nvPr/>
        </p:nvCxnSpPr>
        <p:spPr>
          <a:xfrm>
            <a:off x="534649" y="2841115"/>
            <a:ext cx="65232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FC0731-B342-5F7E-CC9E-B641217D5101}"/>
              </a:ext>
            </a:extLst>
          </p:cNvPr>
          <p:cNvCxnSpPr/>
          <p:nvPr/>
        </p:nvCxnSpPr>
        <p:spPr>
          <a:xfrm>
            <a:off x="559631" y="2855627"/>
            <a:ext cx="0" cy="41223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55A266-7102-48B2-FB0B-272305D3F5AA}"/>
              </a:ext>
            </a:extLst>
          </p:cNvPr>
          <p:cNvCxnSpPr/>
          <p:nvPr/>
        </p:nvCxnSpPr>
        <p:spPr>
          <a:xfrm>
            <a:off x="7057868" y="2855627"/>
            <a:ext cx="0" cy="41223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079A0F-B1CE-FE20-F6B4-CC75E1E4A700}"/>
              </a:ext>
            </a:extLst>
          </p:cNvPr>
          <p:cNvCxnSpPr>
            <a:cxnSpLocks/>
          </p:cNvCxnSpPr>
          <p:nvPr/>
        </p:nvCxnSpPr>
        <p:spPr>
          <a:xfrm>
            <a:off x="584616" y="3868422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25505D7-8619-43C9-80F5-DF594DA0FC7F}"/>
              </a:ext>
            </a:extLst>
          </p:cNvPr>
          <p:cNvSpPr txBox="1"/>
          <p:nvPr/>
        </p:nvSpPr>
        <p:spPr>
          <a:xfrm>
            <a:off x="6506978" y="3239769"/>
            <a:ext cx="1512757" cy="307777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Relationships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4EDCB1-5B97-7A6F-6D65-9D572A82CC42}"/>
              </a:ext>
            </a:extLst>
          </p:cNvPr>
          <p:cNvSpPr txBox="1"/>
          <p:nvPr/>
        </p:nvSpPr>
        <p:spPr>
          <a:xfrm>
            <a:off x="3477717" y="3253344"/>
            <a:ext cx="1236689" cy="307777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Attribute 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02AE33-7D7E-7D38-C0FD-781A10495BD7}"/>
              </a:ext>
            </a:extLst>
          </p:cNvPr>
          <p:cNvSpPr txBox="1"/>
          <p:nvPr/>
        </p:nvSpPr>
        <p:spPr>
          <a:xfrm>
            <a:off x="448456" y="3253345"/>
            <a:ext cx="1236689" cy="307777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Entity </a:t>
            </a:r>
            <a:endParaRPr lang="en-IN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10BD84A-CA71-2113-AC3A-083E9A701784}"/>
              </a:ext>
            </a:extLst>
          </p:cNvPr>
          <p:cNvCxnSpPr>
            <a:cxnSpLocks/>
          </p:cNvCxnSpPr>
          <p:nvPr/>
        </p:nvCxnSpPr>
        <p:spPr>
          <a:xfrm>
            <a:off x="3552667" y="3604013"/>
            <a:ext cx="0" cy="1147414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A8B088-E110-3A8C-7B96-FA16EFA80944}"/>
              </a:ext>
            </a:extLst>
          </p:cNvPr>
          <p:cNvCxnSpPr>
            <a:cxnSpLocks/>
          </p:cNvCxnSpPr>
          <p:nvPr/>
        </p:nvCxnSpPr>
        <p:spPr>
          <a:xfrm>
            <a:off x="559631" y="3547546"/>
            <a:ext cx="0" cy="10653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57CFF72-0ED7-A266-6628-E001EB318620}"/>
              </a:ext>
            </a:extLst>
          </p:cNvPr>
          <p:cNvCxnSpPr>
            <a:cxnSpLocks/>
          </p:cNvCxnSpPr>
          <p:nvPr/>
        </p:nvCxnSpPr>
        <p:spPr>
          <a:xfrm>
            <a:off x="534649" y="4612934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18C7FCD-6186-67F4-EED7-0C141116AE2F}"/>
              </a:ext>
            </a:extLst>
          </p:cNvPr>
          <p:cNvCxnSpPr>
            <a:cxnSpLocks/>
          </p:cNvCxnSpPr>
          <p:nvPr/>
        </p:nvCxnSpPr>
        <p:spPr>
          <a:xfrm>
            <a:off x="6628147" y="3561121"/>
            <a:ext cx="0" cy="1190306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812A086-A7C7-CDFE-2500-B237CEE6C0B9}"/>
              </a:ext>
            </a:extLst>
          </p:cNvPr>
          <p:cNvCxnSpPr>
            <a:cxnSpLocks/>
          </p:cNvCxnSpPr>
          <p:nvPr/>
        </p:nvCxnSpPr>
        <p:spPr>
          <a:xfrm>
            <a:off x="3555166" y="3803465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2D79A8E-5CC5-7C0C-84CD-9B1460F2A0D9}"/>
              </a:ext>
            </a:extLst>
          </p:cNvPr>
          <p:cNvCxnSpPr>
            <a:cxnSpLocks/>
          </p:cNvCxnSpPr>
          <p:nvPr/>
        </p:nvCxnSpPr>
        <p:spPr>
          <a:xfrm>
            <a:off x="3552667" y="4108473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E55B4F9-2861-0778-62C8-D81ED8139A59}"/>
              </a:ext>
            </a:extLst>
          </p:cNvPr>
          <p:cNvCxnSpPr>
            <a:cxnSpLocks/>
          </p:cNvCxnSpPr>
          <p:nvPr/>
        </p:nvCxnSpPr>
        <p:spPr>
          <a:xfrm>
            <a:off x="6615657" y="4751427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F79FC5D-5AA5-552D-AE0C-252A4F1DD3D0}"/>
              </a:ext>
            </a:extLst>
          </p:cNvPr>
          <p:cNvCxnSpPr>
            <a:cxnSpLocks/>
          </p:cNvCxnSpPr>
          <p:nvPr/>
        </p:nvCxnSpPr>
        <p:spPr>
          <a:xfrm>
            <a:off x="6646885" y="4390001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207D88D-055D-A961-7FF2-A7710B0A3119}"/>
              </a:ext>
            </a:extLst>
          </p:cNvPr>
          <p:cNvCxnSpPr>
            <a:cxnSpLocks/>
          </p:cNvCxnSpPr>
          <p:nvPr/>
        </p:nvCxnSpPr>
        <p:spPr>
          <a:xfrm>
            <a:off x="6646885" y="4080240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AC34AEC-CD5E-39B6-123B-1FDF2773F9E4}"/>
              </a:ext>
            </a:extLst>
          </p:cNvPr>
          <p:cNvCxnSpPr>
            <a:cxnSpLocks/>
          </p:cNvCxnSpPr>
          <p:nvPr/>
        </p:nvCxnSpPr>
        <p:spPr>
          <a:xfrm>
            <a:off x="3548918" y="4421901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9288679-63B4-F3C1-7B87-087418072F5E}"/>
              </a:ext>
            </a:extLst>
          </p:cNvPr>
          <p:cNvCxnSpPr>
            <a:cxnSpLocks/>
          </p:cNvCxnSpPr>
          <p:nvPr/>
        </p:nvCxnSpPr>
        <p:spPr>
          <a:xfrm>
            <a:off x="3548918" y="4751427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6A13E6A-63C1-8661-AEB8-D5D7BC9A04A0}"/>
              </a:ext>
            </a:extLst>
          </p:cNvPr>
          <p:cNvCxnSpPr>
            <a:cxnSpLocks/>
          </p:cNvCxnSpPr>
          <p:nvPr/>
        </p:nvCxnSpPr>
        <p:spPr>
          <a:xfrm>
            <a:off x="6615657" y="3748501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0A14150-1E4C-196E-D70D-E7F3264F4647}"/>
              </a:ext>
            </a:extLst>
          </p:cNvPr>
          <p:cNvSpPr txBox="1"/>
          <p:nvPr/>
        </p:nvSpPr>
        <p:spPr>
          <a:xfrm>
            <a:off x="981860" y="3706170"/>
            <a:ext cx="1406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Strong Entity 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CFCD7C7-3192-0D4F-C4C9-6E07353CAEC9}"/>
              </a:ext>
            </a:extLst>
          </p:cNvPr>
          <p:cNvSpPr txBox="1"/>
          <p:nvPr/>
        </p:nvSpPr>
        <p:spPr>
          <a:xfrm>
            <a:off x="1041815" y="4443657"/>
            <a:ext cx="1538997" cy="307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Weak Entity 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DC79E3-B24B-1554-1AF6-907C6B2642A8}"/>
              </a:ext>
            </a:extLst>
          </p:cNvPr>
          <p:cNvSpPr txBox="1"/>
          <p:nvPr/>
        </p:nvSpPr>
        <p:spPr>
          <a:xfrm>
            <a:off x="3976126" y="3936320"/>
            <a:ext cx="2222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Multivalued Attribute  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EADCA0-27CF-AC32-0DAE-3D666E0B91CF}"/>
              </a:ext>
            </a:extLst>
          </p:cNvPr>
          <p:cNvSpPr txBox="1"/>
          <p:nvPr/>
        </p:nvSpPr>
        <p:spPr>
          <a:xfrm>
            <a:off x="3963637" y="3635941"/>
            <a:ext cx="1538997" cy="307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Key Attribute 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3ACBB9-69F5-3765-91D2-A219C2F558A8}"/>
              </a:ext>
            </a:extLst>
          </p:cNvPr>
          <p:cNvSpPr txBox="1"/>
          <p:nvPr/>
        </p:nvSpPr>
        <p:spPr>
          <a:xfrm>
            <a:off x="7024137" y="4591932"/>
            <a:ext cx="1538997" cy="307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Many to Many  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B2E1D5-2770-53E1-2733-16732FBDE169}"/>
              </a:ext>
            </a:extLst>
          </p:cNvPr>
          <p:cNvSpPr txBox="1"/>
          <p:nvPr/>
        </p:nvSpPr>
        <p:spPr>
          <a:xfrm>
            <a:off x="7057868" y="4228186"/>
            <a:ext cx="1538997" cy="307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Many to One 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79705FC-7F22-DFE9-9517-826F5ACE6472}"/>
              </a:ext>
            </a:extLst>
          </p:cNvPr>
          <p:cNvSpPr txBox="1"/>
          <p:nvPr/>
        </p:nvSpPr>
        <p:spPr>
          <a:xfrm>
            <a:off x="7002892" y="3922498"/>
            <a:ext cx="1538997" cy="307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One to Many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D3B942-BEE6-DC4F-B36B-34C0FD55B967}"/>
              </a:ext>
            </a:extLst>
          </p:cNvPr>
          <p:cNvSpPr txBox="1"/>
          <p:nvPr/>
        </p:nvSpPr>
        <p:spPr>
          <a:xfrm>
            <a:off x="7012897" y="3606601"/>
            <a:ext cx="1538997" cy="307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One to One 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5F70E9F-BD96-E5F7-8F04-B508D5C1DFFE}"/>
              </a:ext>
            </a:extLst>
          </p:cNvPr>
          <p:cNvSpPr txBox="1"/>
          <p:nvPr/>
        </p:nvSpPr>
        <p:spPr>
          <a:xfrm>
            <a:off x="3944907" y="4591932"/>
            <a:ext cx="1538997" cy="307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Derived Attribute  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6DB85F-6A65-7D5B-959A-4BCD36A4344E}"/>
              </a:ext>
            </a:extLst>
          </p:cNvPr>
          <p:cNvSpPr txBox="1"/>
          <p:nvPr/>
        </p:nvSpPr>
        <p:spPr>
          <a:xfrm>
            <a:off x="3976125" y="4244090"/>
            <a:ext cx="2173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Composite Attribute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104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FAA685C9-75EB-89C3-871E-A1FEEFA95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>
            <a:extLst>
              <a:ext uri="{FF2B5EF4-FFF2-40B4-BE49-F238E27FC236}">
                <a16:creationId xmlns:a16="http://schemas.microsoft.com/office/drawing/2014/main" id="{73E69DB5-1A5D-DC35-1675-76639EBD323B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" name="Google Shape;182;p17">
            <a:extLst>
              <a:ext uri="{FF2B5EF4-FFF2-40B4-BE49-F238E27FC236}">
                <a16:creationId xmlns:a16="http://schemas.microsoft.com/office/drawing/2014/main" id="{ECD09C29-A29A-4D40-8E69-C0D100F48DD7}"/>
              </a:ext>
            </a:extLst>
          </p:cNvPr>
          <p:cNvSpPr/>
          <p:nvPr/>
        </p:nvSpPr>
        <p:spPr>
          <a:xfrm>
            <a:off x="365760" y="166744"/>
            <a:ext cx="8115300" cy="51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0F4FF"/>
              </a:buClr>
              <a:buSzPts val="2200"/>
            </a:pPr>
            <a:r>
              <a:rPr lang="en-US" sz="3200" b="1" dirty="0">
                <a:solidFill>
                  <a:schemeClr val="tx1"/>
                </a:solidFill>
              </a:rPr>
              <a:t>ER Diagrams in DBMS 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2200"/>
              <a:buFont typeface="Calibri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>
            <a:extLst>
              <a:ext uri="{FF2B5EF4-FFF2-40B4-BE49-F238E27FC236}">
                <a16:creationId xmlns:a16="http://schemas.microsoft.com/office/drawing/2014/main" id="{FBA08D6E-2C1D-D0FC-3F4E-47329352B2A7}"/>
              </a:ext>
            </a:extLst>
          </p:cNvPr>
          <p:cNvSpPr/>
          <p:nvPr/>
        </p:nvSpPr>
        <p:spPr>
          <a:xfrm>
            <a:off x="374903" y="749808"/>
            <a:ext cx="8510017" cy="519056"/>
          </a:xfrm>
          <a:prstGeom prst="rect">
            <a:avLst/>
          </a:prstGeom>
          <a:solidFill>
            <a:srgbClr val="F0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17">
            <a:extLst>
              <a:ext uri="{FF2B5EF4-FFF2-40B4-BE49-F238E27FC236}">
                <a16:creationId xmlns:a16="http://schemas.microsoft.com/office/drawing/2014/main" id="{1DB7F722-F0E2-8B17-4A99-AF952C967550}"/>
              </a:ext>
            </a:extLst>
          </p:cNvPr>
          <p:cNvSpPr/>
          <p:nvPr/>
        </p:nvSpPr>
        <p:spPr>
          <a:xfrm>
            <a:off x="347472" y="749808"/>
            <a:ext cx="109727" cy="51905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7">
            <a:extLst>
              <a:ext uri="{FF2B5EF4-FFF2-40B4-BE49-F238E27FC236}">
                <a16:creationId xmlns:a16="http://schemas.microsoft.com/office/drawing/2014/main" id="{6EE52B68-3A0A-419C-630F-BC9D702FC29B}"/>
              </a:ext>
            </a:extLst>
          </p:cNvPr>
          <p:cNvSpPr/>
          <p:nvPr/>
        </p:nvSpPr>
        <p:spPr>
          <a:xfrm>
            <a:off x="457200" y="90525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>
            <a:extLst>
              <a:ext uri="{FF2B5EF4-FFF2-40B4-BE49-F238E27FC236}">
                <a16:creationId xmlns:a16="http://schemas.microsoft.com/office/drawing/2014/main" id="{673B2E1F-E356-B738-F5A0-3ABEE75871CC}"/>
              </a:ext>
            </a:extLst>
          </p:cNvPr>
          <p:cNvSpPr/>
          <p:nvPr/>
        </p:nvSpPr>
        <p:spPr>
          <a:xfrm>
            <a:off x="365760" y="749808"/>
            <a:ext cx="78318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334155"/>
              </a:buClr>
              <a:buSzPts val="1050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ER diagrams represent the E-R model in a database, making them easy to convert into relations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>
            <a:extLst>
              <a:ext uri="{FF2B5EF4-FFF2-40B4-BE49-F238E27FC236}">
                <a16:creationId xmlns:a16="http://schemas.microsoft.com/office/drawing/2014/main" id="{0DA266F1-AE7E-E57A-9EB2-D418FEA11A30}"/>
              </a:ext>
            </a:extLst>
          </p:cNvPr>
          <p:cNvSpPr/>
          <p:nvPr/>
        </p:nvSpPr>
        <p:spPr>
          <a:xfrm>
            <a:off x="347472" y="1478280"/>
            <a:ext cx="8537448" cy="3498476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fontAlgn="t"/>
            <a:endParaRPr lang="en-IN" dirty="0"/>
          </a:p>
        </p:txBody>
      </p:sp>
      <p:sp>
        <p:nvSpPr>
          <p:cNvPr id="4" name="Google Shape;184;p17">
            <a:extLst>
              <a:ext uri="{FF2B5EF4-FFF2-40B4-BE49-F238E27FC236}">
                <a16:creationId xmlns:a16="http://schemas.microsoft.com/office/drawing/2014/main" id="{1C36A9B8-81C1-14F2-8D79-FC25C4EA3584}"/>
              </a:ext>
            </a:extLst>
          </p:cNvPr>
          <p:cNvSpPr/>
          <p:nvPr/>
        </p:nvSpPr>
        <p:spPr>
          <a:xfrm flipH="1">
            <a:off x="347469" y="1478280"/>
            <a:ext cx="109730" cy="349847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48075A-3F0E-43D4-5484-CEE29BF1C18C}"/>
              </a:ext>
            </a:extLst>
          </p:cNvPr>
          <p:cNvSpPr txBox="1"/>
          <p:nvPr/>
        </p:nvSpPr>
        <p:spPr>
          <a:xfrm>
            <a:off x="457198" y="1478280"/>
            <a:ext cx="9197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Symbols used in ER Model :</a:t>
            </a:r>
          </a:p>
          <a:p>
            <a:r>
              <a:rPr lang="en-US" sz="1200" dirty="0"/>
              <a:t>   ER Model is used to model the logical view of the system from a data perspective which consists of these symbols</a:t>
            </a:r>
            <a:endParaRPr lang="en-IN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C8737F8-5C54-D1B6-232A-ADD18360E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745474"/>
              </p:ext>
            </p:extLst>
          </p:nvPr>
        </p:nvGraphicFramePr>
        <p:xfrm>
          <a:off x="1371608" y="1978479"/>
          <a:ext cx="6659878" cy="246888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222732">
                  <a:extLst>
                    <a:ext uri="{9D8B030D-6E8A-4147-A177-3AD203B41FA5}">
                      <a16:colId xmlns:a16="http://schemas.microsoft.com/office/drawing/2014/main" val="2554216935"/>
                    </a:ext>
                  </a:extLst>
                </a:gridCol>
                <a:gridCol w="2218573">
                  <a:extLst>
                    <a:ext uri="{9D8B030D-6E8A-4147-A177-3AD203B41FA5}">
                      <a16:colId xmlns:a16="http://schemas.microsoft.com/office/drawing/2014/main" val="836827768"/>
                    </a:ext>
                  </a:extLst>
                </a:gridCol>
                <a:gridCol w="2218573">
                  <a:extLst>
                    <a:ext uri="{9D8B030D-6E8A-4147-A177-3AD203B41FA5}">
                      <a16:colId xmlns:a16="http://schemas.microsoft.com/office/drawing/2014/main" val="1893807075"/>
                    </a:ext>
                  </a:extLst>
                </a:gridCol>
              </a:tblGrid>
              <a:tr h="2566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Figures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Symbols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Represents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95903"/>
                  </a:ext>
                </a:extLst>
              </a:tr>
              <a:tr h="256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Rectangle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Entities in ER Model</a:t>
                      </a: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704236"/>
                  </a:ext>
                </a:extLst>
              </a:tr>
              <a:tr h="256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Ellipse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Attributes in ER Model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396303"/>
                  </a:ext>
                </a:extLst>
              </a:tr>
              <a:tr h="5638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Line 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Attributes to Entities and Entities sets with other Relationship types . 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692319"/>
                  </a:ext>
                </a:extLst>
              </a:tr>
              <a:tr h="256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Diamond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Relationships among Entities 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785719"/>
                  </a:ext>
                </a:extLst>
              </a:tr>
              <a:tr h="256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Double Ellipse 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Multi-valued Attributes 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74941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F793BAC-884F-452B-C068-C5970A9BF38B}"/>
              </a:ext>
            </a:extLst>
          </p:cNvPr>
          <p:cNvSpPr/>
          <p:nvPr/>
        </p:nvSpPr>
        <p:spPr>
          <a:xfrm>
            <a:off x="1371608" y="4452451"/>
            <a:ext cx="6659871" cy="3931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                                                                   Weak Entity 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DCD587-80DC-BEAC-5802-BAE6FCF061F2}"/>
              </a:ext>
            </a:extLst>
          </p:cNvPr>
          <p:cNvCxnSpPr>
            <a:cxnSpLocks/>
          </p:cNvCxnSpPr>
          <p:nvPr/>
        </p:nvCxnSpPr>
        <p:spPr>
          <a:xfrm>
            <a:off x="3581400" y="2282190"/>
            <a:ext cx="0" cy="255054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598F195-B1A1-7B8B-1814-AEF64CF6359F}"/>
              </a:ext>
            </a:extLst>
          </p:cNvPr>
          <p:cNvCxnSpPr>
            <a:cxnSpLocks/>
          </p:cNvCxnSpPr>
          <p:nvPr/>
        </p:nvCxnSpPr>
        <p:spPr>
          <a:xfrm>
            <a:off x="5821680" y="2285999"/>
            <a:ext cx="0" cy="254674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9FBFCA4-6436-F57C-6AB7-2E90FFF8A8CA}"/>
              </a:ext>
            </a:extLst>
          </p:cNvPr>
          <p:cNvSpPr txBox="1"/>
          <p:nvPr/>
        </p:nvSpPr>
        <p:spPr>
          <a:xfrm>
            <a:off x="1554480" y="4503419"/>
            <a:ext cx="1836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Double Rectangle 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93F9F8-BF3B-4A05-32AC-6A96A9E7EC75}"/>
              </a:ext>
            </a:extLst>
          </p:cNvPr>
          <p:cNvSpPr/>
          <p:nvPr/>
        </p:nvSpPr>
        <p:spPr>
          <a:xfrm>
            <a:off x="4282442" y="2339333"/>
            <a:ext cx="601979" cy="19933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F7C74D6-0F41-CFB1-0922-C9E1517DF33E}"/>
              </a:ext>
            </a:extLst>
          </p:cNvPr>
          <p:cNvSpPr/>
          <p:nvPr/>
        </p:nvSpPr>
        <p:spPr>
          <a:xfrm>
            <a:off x="4244348" y="2584598"/>
            <a:ext cx="708652" cy="2676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5A4BDDBC-8275-FAC5-82A6-9C14C65C35C5}"/>
              </a:ext>
            </a:extLst>
          </p:cNvPr>
          <p:cNvSpPr/>
          <p:nvPr/>
        </p:nvSpPr>
        <p:spPr>
          <a:xfrm>
            <a:off x="4381502" y="3648686"/>
            <a:ext cx="502918" cy="425416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62461-9795-3E25-ED49-FDE76FF433CD}"/>
              </a:ext>
            </a:extLst>
          </p:cNvPr>
          <p:cNvCxnSpPr/>
          <p:nvPr/>
        </p:nvCxnSpPr>
        <p:spPr>
          <a:xfrm>
            <a:off x="4069083" y="3205163"/>
            <a:ext cx="126492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386A49EB-039A-9DA2-EBBC-F438A809F62C}"/>
              </a:ext>
            </a:extLst>
          </p:cNvPr>
          <p:cNvSpPr/>
          <p:nvPr/>
        </p:nvSpPr>
        <p:spPr>
          <a:xfrm>
            <a:off x="4297681" y="4199925"/>
            <a:ext cx="655318" cy="121357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50C3307-F24D-A0BF-B57C-2A63A9FCF7AD}"/>
              </a:ext>
            </a:extLst>
          </p:cNvPr>
          <p:cNvSpPr/>
          <p:nvPr/>
        </p:nvSpPr>
        <p:spPr>
          <a:xfrm>
            <a:off x="4168143" y="4120029"/>
            <a:ext cx="883915" cy="273647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8D9920-EBC2-0E34-4C5B-27AA86CA7BC1}"/>
              </a:ext>
            </a:extLst>
          </p:cNvPr>
          <p:cNvSpPr/>
          <p:nvPr/>
        </p:nvSpPr>
        <p:spPr>
          <a:xfrm>
            <a:off x="4351020" y="4603092"/>
            <a:ext cx="632459" cy="14534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272A6C-C8E7-FFB2-CE9D-A61DD1CFFF69}"/>
              </a:ext>
            </a:extLst>
          </p:cNvPr>
          <p:cNvSpPr/>
          <p:nvPr/>
        </p:nvSpPr>
        <p:spPr>
          <a:xfrm flipV="1">
            <a:off x="4217672" y="4525923"/>
            <a:ext cx="929619" cy="27668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000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2EBC2DF8-8B08-AB42-180F-6C6122E83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9ACA2FA1-5859-CC8F-FF5D-5D77C692068A}"/>
              </a:ext>
            </a:extLst>
          </p:cNvPr>
          <p:cNvSpPr/>
          <p:nvPr/>
        </p:nvSpPr>
        <p:spPr>
          <a:xfrm>
            <a:off x="0" y="-10603"/>
            <a:ext cx="9144000" cy="57712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6">
            <a:extLst>
              <a:ext uri="{FF2B5EF4-FFF2-40B4-BE49-F238E27FC236}">
                <a16:creationId xmlns:a16="http://schemas.microsoft.com/office/drawing/2014/main" id="{FA9562E2-A502-4655-A154-B1800DF5206C}"/>
              </a:ext>
            </a:extLst>
          </p:cNvPr>
          <p:cNvSpPr/>
          <p:nvPr/>
        </p:nvSpPr>
        <p:spPr>
          <a:xfrm>
            <a:off x="365760" y="297180"/>
            <a:ext cx="807720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0F4FF"/>
              </a:buClr>
              <a:buSzPts val="2200"/>
            </a:pPr>
            <a:r>
              <a:rPr lang="en-IN" dirty="0"/>
              <a:t> </a:t>
            </a:r>
            <a:r>
              <a:rPr lang="en-IN" sz="3200" dirty="0">
                <a:solidFill>
                  <a:schemeClr val="tx1"/>
                </a:solidFill>
              </a:rPr>
              <a:t>Referential Integrity</a:t>
            </a:r>
          </a:p>
          <a:p>
            <a:pPr>
              <a:buClr>
                <a:srgbClr val="F0F4FF"/>
              </a:buClr>
              <a:buSzPts val="2200"/>
            </a:pPr>
            <a:endParaRPr sz="3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67A022-703F-EDD1-5C04-418C0CF2EF2C}"/>
              </a:ext>
            </a:extLst>
          </p:cNvPr>
          <p:cNvSpPr txBox="1"/>
          <p:nvPr/>
        </p:nvSpPr>
        <p:spPr>
          <a:xfrm>
            <a:off x="236220" y="777240"/>
            <a:ext cx="762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Referential Integrity ensures that a foreign key must match an existing primary key 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2">
                  <a:lumMod val="25000"/>
                  <a:lumOff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Maintains </a:t>
            </a:r>
            <a:r>
              <a:rPr lang="en-US" b="1" dirty="0">
                <a:solidFill>
                  <a:schemeClr val="bg2">
                    <a:lumMod val="25000"/>
                    <a:lumOff val="75000"/>
                  </a:schemeClr>
                </a:solidFill>
              </a:rPr>
              <a:t>valid relationships between tables</a:t>
            </a:r>
            <a:endParaRPr lang="en-US" dirty="0">
              <a:solidFill>
                <a:schemeClr val="bg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69D5BD-E670-166C-3CCD-54C3033F7606}"/>
              </a:ext>
            </a:extLst>
          </p:cNvPr>
          <p:cNvSpPr txBox="1"/>
          <p:nvPr/>
        </p:nvSpPr>
        <p:spPr>
          <a:xfrm>
            <a:off x="541020" y="1844041"/>
            <a:ext cx="79933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For Ex : In the previous table , Every Department ID in </a:t>
            </a:r>
            <a:r>
              <a:rPr lang="en-US" b="1" dirty="0">
                <a:solidFill>
                  <a:schemeClr val="bg2">
                    <a:lumMod val="25000"/>
                    <a:lumOff val="75000"/>
                  </a:schemeClr>
                </a:solidFill>
              </a:rPr>
              <a:t>Student Table</a:t>
            </a:r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 must exist in </a:t>
            </a:r>
            <a:r>
              <a:rPr lang="en-US" b="1" dirty="0">
                <a:solidFill>
                  <a:schemeClr val="bg2">
                    <a:lumMod val="25000"/>
                    <a:lumOff val="75000"/>
                  </a:schemeClr>
                </a:solidFill>
              </a:rPr>
              <a:t>Department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Pihu → EE12 ✔ (exists in Department table)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Harshit → Ec02 ✔ (exists in Department table) </a:t>
            </a:r>
          </a:p>
          <a:p>
            <a:endParaRPr lang="en-IN" dirty="0">
              <a:solidFill>
                <a:schemeClr val="bg2">
                  <a:lumMod val="25000"/>
                  <a:lumOff val="75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6B40C2-D147-BCD0-A2F1-6EB671921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684" y="3020452"/>
            <a:ext cx="3749316" cy="84067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246FB04-3819-5A0D-989A-92EDFFAA7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460" y="3015034"/>
            <a:ext cx="2450026" cy="751947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3D2D29F-2FAC-F7C3-72CF-A480793BC47E}"/>
              </a:ext>
            </a:extLst>
          </p:cNvPr>
          <p:cNvSpPr/>
          <p:nvPr/>
        </p:nvSpPr>
        <p:spPr>
          <a:xfrm>
            <a:off x="3688080" y="3268980"/>
            <a:ext cx="457200" cy="19812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2D3A4F-0615-98EE-AD78-BF832E121051}"/>
              </a:ext>
            </a:extLst>
          </p:cNvPr>
          <p:cNvSpPr/>
          <p:nvPr/>
        </p:nvSpPr>
        <p:spPr>
          <a:xfrm>
            <a:off x="3688080" y="3590257"/>
            <a:ext cx="457200" cy="19812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1E9CF5-A68A-F28D-B0BB-B0AB214B26C6}"/>
              </a:ext>
            </a:extLst>
          </p:cNvPr>
          <p:cNvSpPr/>
          <p:nvPr/>
        </p:nvSpPr>
        <p:spPr>
          <a:xfrm>
            <a:off x="6050280" y="3242669"/>
            <a:ext cx="457200" cy="19812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D45567-23CC-497F-6DF0-C525D92C141D}"/>
              </a:ext>
            </a:extLst>
          </p:cNvPr>
          <p:cNvSpPr/>
          <p:nvPr/>
        </p:nvSpPr>
        <p:spPr>
          <a:xfrm>
            <a:off x="5913120" y="3506062"/>
            <a:ext cx="457200" cy="19812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4EDE4C-755F-9326-8242-901F28A47E56}"/>
              </a:ext>
            </a:extLst>
          </p:cNvPr>
          <p:cNvSpPr txBox="1"/>
          <p:nvPr/>
        </p:nvSpPr>
        <p:spPr>
          <a:xfrm>
            <a:off x="822684" y="4259580"/>
            <a:ext cx="7460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Referential Integrity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keeps data consistent and prevents invalid relationships between tables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89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>
          <a:extLst>
            <a:ext uri="{FF2B5EF4-FFF2-40B4-BE49-F238E27FC236}">
              <a16:creationId xmlns:a16="http://schemas.microsoft.com/office/drawing/2014/main" id="{16362709-534E-4E21-4867-2B7960D33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5">
            <a:extLst>
              <a:ext uri="{FF2B5EF4-FFF2-40B4-BE49-F238E27FC236}">
                <a16:creationId xmlns:a16="http://schemas.microsoft.com/office/drawing/2014/main" id="{68DC1D1E-7EFA-0B51-DA30-65028E4CA83F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5">
            <a:extLst>
              <a:ext uri="{FF2B5EF4-FFF2-40B4-BE49-F238E27FC236}">
                <a16:creationId xmlns:a16="http://schemas.microsoft.com/office/drawing/2014/main" id="{69994F42-6337-1E1F-4F8D-3213B02BC094}"/>
              </a:ext>
            </a:extLst>
          </p:cNvPr>
          <p:cNvSpPr/>
          <p:nvPr/>
        </p:nvSpPr>
        <p:spPr>
          <a:xfrm>
            <a:off x="838200" y="868680"/>
            <a:ext cx="7246620" cy="914399"/>
          </a:xfrm>
          <a:prstGeom prst="rect">
            <a:avLst/>
          </a:prstGeom>
          <a:solidFill>
            <a:srgbClr val="0D1B2A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>
                <a:solidFill>
                  <a:schemeClr val="tx1">
                    <a:lumMod val="75000"/>
                  </a:schemeClr>
                </a:solidFill>
              </a:rPr>
              <a:t>There are 4 types of relationship based on degree: </a:t>
            </a:r>
            <a:endParaRPr sz="2000" dirty="0"/>
          </a:p>
        </p:txBody>
      </p:sp>
      <p:sp>
        <p:nvSpPr>
          <p:cNvPr id="551" name="Google Shape;551;p25">
            <a:extLst>
              <a:ext uri="{FF2B5EF4-FFF2-40B4-BE49-F238E27FC236}">
                <a16:creationId xmlns:a16="http://schemas.microsoft.com/office/drawing/2014/main" id="{4B57E363-7A5A-A71D-98B4-5AF466DDE95E}"/>
              </a:ext>
            </a:extLst>
          </p:cNvPr>
          <p:cNvSpPr/>
          <p:nvPr/>
        </p:nvSpPr>
        <p:spPr>
          <a:xfrm>
            <a:off x="365760" y="2328672"/>
            <a:ext cx="4206240" cy="1097280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000" dirty="0">
                <a:solidFill>
                  <a:srgbClr val="00B0F0"/>
                </a:solidFill>
              </a:rPr>
              <a:t>One to One (1-1)   </a:t>
            </a:r>
          </a:p>
          <a:p>
            <a:pPr lvl="0" algn="ctr"/>
            <a:r>
              <a:rPr lang="en-US" dirty="0">
                <a:solidFill>
                  <a:schemeClr val="accent2">
                    <a:lumMod val="25000"/>
                  </a:schemeClr>
                </a:solidFill>
              </a:rPr>
              <a:t>One record in Table A is linked to only one record in Table B and vice versa</a:t>
            </a:r>
            <a:endParaRPr lang="en-IN" dirty="0">
              <a:solidFill>
                <a:schemeClr val="accent2">
                  <a:lumMod val="25000"/>
                </a:schemeClr>
              </a:solidFill>
            </a:endParaRPr>
          </a:p>
        </p:txBody>
      </p:sp>
      <p:sp>
        <p:nvSpPr>
          <p:cNvPr id="552" name="Google Shape;552;p25">
            <a:extLst>
              <a:ext uri="{FF2B5EF4-FFF2-40B4-BE49-F238E27FC236}">
                <a16:creationId xmlns:a16="http://schemas.microsoft.com/office/drawing/2014/main" id="{19874B23-E97E-DCBD-28F5-05B65246516C}"/>
              </a:ext>
            </a:extLst>
          </p:cNvPr>
          <p:cNvSpPr/>
          <p:nvPr/>
        </p:nvSpPr>
        <p:spPr>
          <a:xfrm>
            <a:off x="365760" y="2331720"/>
            <a:ext cx="64008" cy="1097280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5">
            <a:extLst>
              <a:ext uri="{FF2B5EF4-FFF2-40B4-BE49-F238E27FC236}">
                <a16:creationId xmlns:a16="http://schemas.microsoft.com/office/drawing/2014/main" id="{64B93A63-A5EE-9129-6A96-CE5187A07F2C}"/>
              </a:ext>
            </a:extLst>
          </p:cNvPr>
          <p:cNvSpPr/>
          <p:nvPr/>
        </p:nvSpPr>
        <p:spPr>
          <a:xfrm>
            <a:off x="502920" y="240487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Consola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5">
            <a:extLst>
              <a:ext uri="{FF2B5EF4-FFF2-40B4-BE49-F238E27FC236}">
                <a16:creationId xmlns:a16="http://schemas.microsoft.com/office/drawing/2014/main" id="{72CA17F9-5F9F-BB73-2360-4D3AEAEDB9FE}"/>
              </a:ext>
            </a:extLst>
          </p:cNvPr>
          <p:cNvSpPr/>
          <p:nvPr/>
        </p:nvSpPr>
        <p:spPr>
          <a:xfrm>
            <a:off x="4846320" y="2328672"/>
            <a:ext cx="4206240" cy="1097280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000" dirty="0">
                <a:solidFill>
                  <a:srgbClr val="7030A0"/>
                </a:solidFill>
              </a:rPr>
              <a:t>Many to One (N-1)</a:t>
            </a:r>
          </a:p>
          <a:p>
            <a:pPr lvl="0" algn="ctr"/>
            <a:endParaRPr lang="en-IN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6" name="Google Shape;556;p25">
            <a:extLst>
              <a:ext uri="{FF2B5EF4-FFF2-40B4-BE49-F238E27FC236}">
                <a16:creationId xmlns:a16="http://schemas.microsoft.com/office/drawing/2014/main" id="{12A29FC2-E597-4608-8253-290BFDDBC4C4}"/>
              </a:ext>
            </a:extLst>
          </p:cNvPr>
          <p:cNvSpPr/>
          <p:nvPr/>
        </p:nvSpPr>
        <p:spPr>
          <a:xfrm>
            <a:off x="4846320" y="2331720"/>
            <a:ext cx="64008" cy="1097280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5">
            <a:extLst>
              <a:ext uri="{FF2B5EF4-FFF2-40B4-BE49-F238E27FC236}">
                <a16:creationId xmlns:a16="http://schemas.microsoft.com/office/drawing/2014/main" id="{7213823C-A97D-B681-760D-4E9AAABC533B}"/>
              </a:ext>
            </a:extLst>
          </p:cNvPr>
          <p:cNvSpPr/>
          <p:nvPr/>
        </p:nvSpPr>
        <p:spPr>
          <a:xfrm>
            <a:off x="365760" y="3566160"/>
            <a:ext cx="4206240" cy="1097280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1800" dirty="0">
                <a:solidFill>
                  <a:srgbClr val="00B050"/>
                </a:solidFill>
              </a:rPr>
              <a:t>One to Many (1-N)</a:t>
            </a:r>
          </a:p>
          <a:p>
            <a:pPr lvl="0" algn="ctr"/>
            <a:r>
              <a:rPr lang="en-US" sz="1600" dirty="0">
                <a:solidFill>
                  <a:schemeClr val="accent2">
                    <a:lumMod val="25000"/>
                  </a:schemeClr>
                </a:solidFill>
              </a:rPr>
              <a:t>One record in Table A can be linked to many records in Table B</a:t>
            </a:r>
            <a:endParaRPr sz="1600" dirty="0">
              <a:solidFill>
                <a:schemeClr val="accent2">
                  <a:lumMod val="25000"/>
                </a:schemeClr>
              </a:solidFill>
            </a:endParaRPr>
          </a:p>
        </p:txBody>
      </p:sp>
      <p:sp>
        <p:nvSpPr>
          <p:cNvPr id="560" name="Google Shape;560;p25">
            <a:extLst>
              <a:ext uri="{FF2B5EF4-FFF2-40B4-BE49-F238E27FC236}">
                <a16:creationId xmlns:a16="http://schemas.microsoft.com/office/drawing/2014/main" id="{C7789B80-AD52-174C-5F71-C9F5DBC0EB5E}"/>
              </a:ext>
            </a:extLst>
          </p:cNvPr>
          <p:cNvSpPr/>
          <p:nvPr/>
        </p:nvSpPr>
        <p:spPr>
          <a:xfrm>
            <a:off x="365760" y="3566160"/>
            <a:ext cx="64008" cy="109728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5">
            <a:extLst>
              <a:ext uri="{FF2B5EF4-FFF2-40B4-BE49-F238E27FC236}">
                <a16:creationId xmlns:a16="http://schemas.microsoft.com/office/drawing/2014/main" id="{71B98F73-6E8A-0C45-A7E1-FDA200524C24}"/>
              </a:ext>
            </a:extLst>
          </p:cNvPr>
          <p:cNvSpPr/>
          <p:nvPr/>
        </p:nvSpPr>
        <p:spPr>
          <a:xfrm>
            <a:off x="502920" y="363931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onsola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5">
            <a:extLst>
              <a:ext uri="{FF2B5EF4-FFF2-40B4-BE49-F238E27FC236}">
                <a16:creationId xmlns:a16="http://schemas.microsoft.com/office/drawing/2014/main" id="{31AA6108-A5AB-157D-E8C5-3B39E14A42C6}"/>
              </a:ext>
            </a:extLst>
          </p:cNvPr>
          <p:cNvSpPr/>
          <p:nvPr/>
        </p:nvSpPr>
        <p:spPr>
          <a:xfrm>
            <a:off x="4846320" y="3566160"/>
            <a:ext cx="4206240" cy="1097280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000" dirty="0">
                <a:solidFill>
                  <a:srgbClr val="FFC000"/>
                </a:solidFill>
              </a:rPr>
              <a:t>Many to Many (N-N)</a:t>
            </a:r>
          </a:p>
          <a:p>
            <a:pPr lvl="0" algn="ctr"/>
            <a:r>
              <a:rPr lang="en-US" sz="1600" dirty="0">
                <a:solidFill>
                  <a:schemeClr val="accent2">
                    <a:lumMod val="25000"/>
                  </a:schemeClr>
                </a:solidFill>
              </a:rPr>
              <a:t>Many records in Table A relate to many records in Table B</a:t>
            </a:r>
            <a:endParaRPr sz="1600" dirty="0">
              <a:solidFill>
                <a:schemeClr val="accent2">
                  <a:lumMod val="25000"/>
                </a:schemeClr>
              </a:solidFill>
            </a:endParaRPr>
          </a:p>
        </p:txBody>
      </p:sp>
      <p:sp>
        <p:nvSpPr>
          <p:cNvPr id="564" name="Google Shape;564;p25">
            <a:extLst>
              <a:ext uri="{FF2B5EF4-FFF2-40B4-BE49-F238E27FC236}">
                <a16:creationId xmlns:a16="http://schemas.microsoft.com/office/drawing/2014/main" id="{BC290E9C-6135-FA25-86CF-48A132C351B3}"/>
              </a:ext>
            </a:extLst>
          </p:cNvPr>
          <p:cNvSpPr/>
          <p:nvPr/>
        </p:nvSpPr>
        <p:spPr>
          <a:xfrm>
            <a:off x="4846320" y="3566160"/>
            <a:ext cx="64008" cy="109728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5">
            <a:extLst>
              <a:ext uri="{FF2B5EF4-FFF2-40B4-BE49-F238E27FC236}">
                <a16:creationId xmlns:a16="http://schemas.microsoft.com/office/drawing/2014/main" id="{E79BD7D5-972B-92E0-BF09-4FBE41E66210}"/>
              </a:ext>
            </a:extLst>
          </p:cNvPr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Unvisited nodes get UCT = infinity — guaranteeing they are explored before revisiting known nodes.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57;p16">
            <a:extLst>
              <a:ext uri="{FF2B5EF4-FFF2-40B4-BE49-F238E27FC236}">
                <a16:creationId xmlns:a16="http://schemas.microsoft.com/office/drawing/2014/main" id="{984B7030-BB36-9BE3-6373-530FCCC6F23F}"/>
              </a:ext>
            </a:extLst>
          </p:cNvPr>
          <p:cNvSpPr/>
          <p:nvPr/>
        </p:nvSpPr>
        <p:spPr>
          <a:xfrm>
            <a:off x="365760" y="0"/>
            <a:ext cx="7894320" cy="68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2200"/>
            </a:pPr>
            <a:r>
              <a:rPr lang="en-US" sz="2400" dirty="0">
                <a:solidFill>
                  <a:schemeClr val="tx1"/>
                </a:solidFill>
              </a:rPr>
              <a:t>Types of relationship in DBMS</a:t>
            </a:r>
            <a:r>
              <a:rPr lang="en-US" sz="2200" b="1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66F0A7-6B27-9649-9594-CE9BA784C2B0}"/>
              </a:ext>
            </a:extLst>
          </p:cNvPr>
          <p:cNvGraphicFramePr>
            <a:graphicFrameLocks noGrp="1"/>
          </p:cNvGraphicFramePr>
          <p:nvPr/>
        </p:nvGraphicFramePr>
        <p:xfrm>
          <a:off x="311150" y="2708275"/>
          <a:ext cx="8521700" cy="304800"/>
        </p:xfrm>
        <a:graphic>
          <a:graphicData uri="http://schemas.openxmlformats.org/drawingml/2006/table">
            <a:tbl>
              <a:tblPr/>
              <a:tblGrid>
                <a:gridCol w="8521700">
                  <a:extLst>
                    <a:ext uri="{9D8B030D-6E8A-4147-A177-3AD203B41FA5}">
                      <a16:colId xmlns:a16="http://schemas.microsoft.com/office/drawing/2014/main" val="3133785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03812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F5E7AD-1A4C-C700-7AB5-1D6C61FD2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214646"/>
              </p:ext>
            </p:extLst>
          </p:nvPr>
        </p:nvGraphicFramePr>
        <p:xfrm>
          <a:off x="5184648" y="2708275"/>
          <a:ext cx="3349752" cy="717676"/>
        </p:xfrm>
        <a:graphic>
          <a:graphicData uri="http://schemas.openxmlformats.org/drawingml/2006/table">
            <a:tbl>
              <a:tblPr/>
              <a:tblGrid>
                <a:gridCol w="3349752">
                  <a:extLst>
                    <a:ext uri="{9D8B030D-6E8A-4147-A177-3AD203B41FA5}">
                      <a16:colId xmlns:a16="http://schemas.microsoft.com/office/drawing/2014/main" val="383354051"/>
                    </a:ext>
                  </a:extLst>
                </a:gridCol>
              </a:tblGrid>
              <a:tr h="717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Many records in Table A relate to one record in Table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465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0042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0919EF2A-5583-0D30-E3B1-481E5033E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2D6A2BF2-22ED-4765-EB19-CEC9C8818DCC}"/>
              </a:ext>
            </a:extLst>
          </p:cNvPr>
          <p:cNvSpPr/>
          <p:nvPr/>
        </p:nvSpPr>
        <p:spPr>
          <a:xfrm>
            <a:off x="0" y="0"/>
            <a:ext cx="9144000" cy="599607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6">
            <a:extLst>
              <a:ext uri="{FF2B5EF4-FFF2-40B4-BE49-F238E27FC236}">
                <a16:creationId xmlns:a16="http://schemas.microsoft.com/office/drawing/2014/main" id="{D2DDA590-B8D7-1225-A83C-79D4B7985958}"/>
              </a:ext>
            </a:extLst>
          </p:cNvPr>
          <p:cNvSpPr/>
          <p:nvPr/>
        </p:nvSpPr>
        <p:spPr>
          <a:xfrm>
            <a:off x="365760" y="0"/>
            <a:ext cx="8183880" cy="599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2200"/>
            </a:pPr>
            <a:r>
              <a:rPr lang="en-US" sz="2200" b="1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7AE1A134-5F4A-4370-3829-7616B5F9976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538"/>
          </a:solidFill>
          <a:ln w="254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6">
            <a:extLst>
              <a:ext uri="{FF2B5EF4-FFF2-40B4-BE49-F238E27FC236}">
                <a16:creationId xmlns:a16="http://schemas.microsoft.com/office/drawing/2014/main" id="{6BA4D41B-968C-7378-7845-2A957B006046}"/>
              </a:ext>
            </a:extLst>
          </p:cNvPr>
          <p:cNvSpPr/>
          <p:nvPr/>
        </p:nvSpPr>
        <p:spPr>
          <a:xfrm>
            <a:off x="0" y="0"/>
            <a:ext cx="9144000" cy="70104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7B14470C-2A09-94CF-0E44-50CDECB3CB61}"/>
              </a:ext>
            </a:extLst>
          </p:cNvPr>
          <p:cNvSpPr/>
          <p:nvPr/>
        </p:nvSpPr>
        <p:spPr>
          <a:xfrm>
            <a:off x="320040" y="68581"/>
            <a:ext cx="8475688" cy="599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0F4FF"/>
              </a:buClr>
              <a:buSzPts val="1100"/>
            </a:pPr>
            <a:r>
              <a:rPr lang="en-US" sz="24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EXAMPLES : </a:t>
            </a:r>
            <a:endParaRPr sz="24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>
            <a:extLst>
              <a:ext uri="{FF2B5EF4-FFF2-40B4-BE49-F238E27FC236}">
                <a16:creationId xmlns:a16="http://schemas.microsoft.com/office/drawing/2014/main" id="{D3AF34B1-1663-B3C8-87C9-E329FF74B29E}"/>
              </a:ext>
            </a:extLst>
          </p:cNvPr>
          <p:cNvSpPr/>
          <p:nvPr/>
        </p:nvSpPr>
        <p:spPr>
          <a:xfrm>
            <a:off x="7010399" y="2674869"/>
            <a:ext cx="1785329" cy="2615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1100"/>
            </a:pPr>
            <a:endParaRPr sz="1200" b="0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67FD9D-DC35-BC48-DAE2-868D7D7E5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" y="3027574"/>
            <a:ext cx="7490460" cy="1695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79A404-B3E9-D483-EEC2-42C253F06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" y="1190608"/>
            <a:ext cx="7490460" cy="141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1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1"/>
          <p:cNvSpPr/>
          <p:nvPr/>
        </p:nvSpPr>
        <p:spPr>
          <a:xfrm>
            <a:off x="0" y="-22860"/>
            <a:ext cx="9144000" cy="68580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2200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 Entity Set </a:t>
            </a:r>
            <a:r>
              <a:rPr lang="en-US" sz="2800" b="1" i="0" u="none" strike="noStrike" cap="none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200" b="1" i="0" u="none" strike="noStrike" cap="none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&amp; </a:t>
            </a:r>
            <a:r>
              <a:rPr lang="en-IN" sz="2400" dirty="0">
                <a:solidFill>
                  <a:schemeClr val="tx1"/>
                </a:solidFill>
              </a:rPr>
              <a:t>Total Relationship</a:t>
            </a:r>
            <a:endParaRPr sz="2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1"/>
          <p:cNvSpPr/>
          <p:nvPr/>
        </p:nvSpPr>
        <p:spPr>
          <a:xfrm>
            <a:off x="320040" y="1234440"/>
            <a:ext cx="8557260" cy="1645920"/>
          </a:xfrm>
          <a:prstGeom prst="rect">
            <a:avLst/>
          </a:prstGeom>
          <a:solidFill>
            <a:srgbClr val="F8FAFF"/>
          </a:solidFill>
          <a:ln w="254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1"/>
          <p:cNvSpPr/>
          <p:nvPr/>
        </p:nvSpPr>
        <p:spPr>
          <a:xfrm>
            <a:off x="323850" y="1257300"/>
            <a:ext cx="3368040" cy="16459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1"/>
          <p:cNvSpPr/>
          <p:nvPr/>
        </p:nvSpPr>
        <p:spPr>
          <a:xfrm>
            <a:off x="320040" y="1234440"/>
            <a:ext cx="3368040" cy="1653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nsola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1"/>
          <p:cNvSpPr/>
          <p:nvPr/>
        </p:nvSpPr>
        <p:spPr>
          <a:xfrm>
            <a:off x="1508760" y="13716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Total Simulation Reward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1"/>
          <p:cNvSpPr/>
          <p:nvPr/>
        </p:nvSpPr>
        <p:spPr>
          <a:xfrm>
            <a:off x="346710" y="3063240"/>
            <a:ext cx="8503920" cy="1813560"/>
          </a:xfrm>
          <a:prstGeom prst="rect">
            <a:avLst/>
          </a:prstGeom>
          <a:solidFill>
            <a:srgbClr val="F8FAFF"/>
          </a:solidFill>
          <a:ln w="254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1"/>
          <p:cNvSpPr/>
          <p:nvPr/>
        </p:nvSpPr>
        <p:spPr>
          <a:xfrm>
            <a:off x="346710" y="3070860"/>
            <a:ext cx="3394710" cy="1805940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8" name="Google Shape;428;p21"/>
          <p:cNvSpPr/>
          <p:nvPr/>
        </p:nvSpPr>
        <p:spPr>
          <a:xfrm>
            <a:off x="320040" y="3063240"/>
            <a:ext cx="3421380" cy="1813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nsola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B88B5D-DE70-3916-C550-5458CCDC60CC}"/>
              </a:ext>
            </a:extLst>
          </p:cNvPr>
          <p:cNvSpPr txBox="1"/>
          <p:nvPr/>
        </p:nvSpPr>
        <p:spPr>
          <a:xfrm>
            <a:off x="3714750" y="1234440"/>
            <a:ext cx="500253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Weak Entity Set</a:t>
            </a:r>
            <a:r>
              <a:rPr lang="en-US" dirty="0"/>
              <a:t> is an entity that </a:t>
            </a:r>
            <a:r>
              <a:rPr lang="en-US" b="1" dirty="0"/>
              <a:t>cannot be uniquely identified by its own attributes</a:t>
            </a:r>
            <a:r>
              <a:rPr lang="en-US" dirty="0"/>
              <a:t> and depends on another (strong) entity.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</a:t>
            </a:r>
            <a:r>
              <a:rPr lang="en-US" b="1" dirty="0"/>
              <a:t>not have a primary key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Has a </a:t>
            </a:r>
            <a:r>
              <a:rPr lang="en-US" b="1" dirty="0"/>
              <a:t>partial key (discriminator)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Depends on a </a:t>
            </a:r>
            <a:r>
              <a:rPr lang="en-US" b="1" dirty="0"/>
              <a:t>Strong Entity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identifying relationship</a:t>
            </a:r>
            <a:r>
              <a:rPr lang="en-US" dirty="0"/>
              <a:t> </a:t>
            </a:r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657AA7-F7C6-972C-DEE9-0A7011FE8272}"/>
              </a:ext>
            </a:extLst>
          </p:cNvPr>
          <p:cNvSpPr/>
          <p:nvPr/>
        </p:nvSpPr>
        <p:spPr>
          <a:xfrm>
            <a:off x="1082040" y="1897380"/>
            <a:ext cx="1790700" cy="89916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2F6D91-C241-1B24-C48D-2293F5AF052D}"/>
              </a:ext>
            </a:extLst>
          </p:cNvPr>
          <p:cNvSpPr/>
          <p:nvPr/>
        </p:nvSpPr>
        <p:spPr>
          <a:xfrm>
            <a:off x="1203960" y="2048708"/>
            <a:ext cx="1562100" cy="6563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1E5169-85A8-BE41-DE50-F61F5016641B}"/>
              </a:ext>
            </a:extLst>
          </p:cNvPr>
          <p:cNvSpPr txBox="1"/>
          <p:nvPr/>
        </p:nvSpPr>
        <p:spPr>
          <a:xfrm>
            <a:off x="525780" y="1257300"/>
            <a:ext cx="294894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Consolas"/>
                <a:ea typeface="Calibri"/>
                <a:cs typeface="Calibri"/>
                <a:sym typeface="Consolas"/>
              </a:rPr>
              <a:t>Weak Entity Set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9E3F7-681B-CFE8-B1F4-9B215829D9D4}"/>
              </a:ext>
            </a:extLst>
          </p:cNvPr>
          <p:cNvSpPr txBox="1"/>
          <p:nvPr/>
        </p:nvSpPr>
        <p:spPr>
          <a:xfrm>
            <a:off x="678180" y="3169800"/>
            <a:ext cx="2529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Total Relationship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AC7901-E93E-4EAA-1D9A-47F61251CFC2}"/>
              </a:ext>
            </a:extLst>
          </p:cNvPr>
          <p:cNvSpPr txBox="1"/>
          <p:nvPr/>
        </p:nvSpPr>
        <p:spPr>
          <a:xfrm>
            <a:off x="3878580" y="3329940"/>
            <a:ext cx="47625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Total Relationship</a:t>
            </a:r>
            <a:r>
              <a:rPr lang="en-US" dirty="0"/>
              <a:t> means </a:t>
            </a:r>
            <a:r>
              <a:rPr lang="en-US" b="1" dirty="0"/>
              <a:t>every entity must participate</a:t>
            </a:r>
            <a:r>
              <a:rPr lang="en-US" dirty="0"/>
              <a:t> in the relationship.</a:t>
            </a:r>
          </a:p>
          <a:p>
            <a:endParaRPr lang="en-US" dirty="0"/>
          </a:p>
          <a:p>
            <a:r>
              <a:rPr lang="en-US" dirty="0"/>
              <a:t>Total relationship ensures </a:t>
            </a:r>
            <a:r>
              <a:rPr lang="en-US" b="1" dirty="0"/>
              <a:t>data completeness and integrity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6798DC-D5B0-D6A5-7D85-D0C30BAD5B08}"/>
              </a:ext>
            </a:extLst>
          </p:cNvPr>
          <p:cNvCxnSpPr/>
          <p:nvPr/>
        </p:nvCxnSpPr>
        <p:spPr>
          <a:xfrm>
            <a:off x="929640" y="4252080"/>
            <a:ext cx="19431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BC3A35-15F1-0364-C037-813E211772F5}"/>
              </a:ext>
            </a:extLst>
          </p:cNvPr>
          <p:cNvCxnSpPr/>
          <p:nvPr/>
        </p:nvCxnSpPr>
        <p:spPr>
          <a:xfrm>
            <a:off x="929640" y="4404480"/>
            <a:ext cx="19431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6AF7C2-CE01-D5D4-1AE4-970F93537A9C}"/>
              </a:ext>
            </a:extLst>
          </p:cNvPr>
          <p:cNvSpPr txBox="1"/>
          <p:nvPr/>
        </p:nvSpPr>
        <p:spPr>
          <a:xfrm>
            <a:off x="739140" y="3668850"/>
            <a:ext cx="28155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Represented by : 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62ED9D-8CB6-36BC-D242-2C63E1B4C2B3}"/>
              </a:ext>
            </a:extLst>
          </p:cNvPr>
          <p:cNvSpPr txBox="1"/>
          <p:nvPr/>
        </p:nvSpPr>
        <p:spPr>
          <a:xfrm>
            <a:off x="521970" y="16308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Represented by:  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8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2200"/>
            </a:pPr>
            <a:r>
              <a:rPr lang="en-IN" sz="2400" dirty="0">
                <a:solidFill>
                  <a:schemeClr val="tx1"/>
                </a:solidFill>
              </a:rPr>
              <a:t>Normalization and its types</a:t>
            </a:r>
            <a:endParaRPr sz="2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A0A69E-714B-CCD5-F223-62B4C0413AAF}"/>
              </a:ext>
            </a:extLst>
          </p:cNvPr>
          <p:cNvSpPr txBox="1"/>
          <p:nvPr/>
        </p:nvSpPr>
        <p:spPr>
          <a:xfrm>
            <a:off x="289560" y="891540"/>
            <a:ext cx="810006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Normalization is a process in which we organize data to reduce redundancy( 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duplicacy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) and improve data consistency. It involves dividing a database into two or more tables</a:t>
            </a:r>
          </a:p>
          <a:p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Benefits of using Normal Forms: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Reduce duplicate data and wasted storage.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Prevent insert, update, and delete anomalies.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Improve data consistency and integrity.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Make the schema easier to maintain and evolve.</a:t>
            </a:r>
          </a:p>
          <a:p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Types of </a:t>
            </a:r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Normalization: 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First Normal Form (1NF)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Second Normal Form (2NF)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Third Normal Form (3NF)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Boyce-Codd Normal Form(BCNF)</a:t>
            </a:r>
            <a:endParaRPr lang="en-IN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245170-DD21-2736-2DD7-8ABA22E4C2A1}"/>
              </a:ext>
            </a:extLst>
          </p:cNvPr>
          <p:cNvSpPr/>
          <p:nvPr/>
        </p:nvSpPr>
        <p:spPr>
          <a:xfrm>
            <a:off x="4953000" y="1851660"/>
            <a:ext cx="2682240" cy="24841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FC8FD7F-753F-176E-802C-B402A0893C3B}"/>
              </a:ext>
            </a:extLst>
          </p:cNvPr>
          <p:cNvSpPr/>
          <p:nvPr/>
        </p:nvSpPr>
        <p:spPr>
          <a:xfrm>
            <a:off x="5372100" y="2476500"/>
            <a:ext cx="1844040" cy="185928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3AF6F5D-C3EF-17E5-5A3B-8868403F6FFC}"/>
              </a:ext>
            </a:extLst>
          </p:cNvPr>
          <p:cNvSpPr/>
          <p:nvPr/>
        </p:nvSpPr>
        <p:spPr>
          <a:xfrm>
            <a:off x="5524500" y="2872740"/>
            <a:ext cx="1524000" cy="14630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AA0D3BA-9F38-9ED0-6E19-A5641F91B24F}"/>
              </a:ext>
            </a:extLst>
          </p:cNvPr>
          <p:cNvSpPr/>
          <p:nvPr/>
        </p:nvSpPr>
        <p:spPr>
          <a:xfrm>
            <a:off x="5770245" y="3505200"/>
            <a:ext cx="1032510" cy="83058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FB7DEB-97AB-6747-F38B-2870A947E061}"/>
              </a:ext>
            </a:extLst>
          </p:cNvPr>
          <p:cNvSpPr txBox="1"/>
          <p:nvPr/>
        </p:nvSpPr>
        <p:spPr>
          <a:xfrm>
            <a:off x="5985510" y="2065853"/>
            <a:ext cx="773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NF 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AF2687-68E0-2EEA-79DA-9099332F18C8}"/>
              </a:ext>
            </a:extLst>
          </p:cNvPr>
          <p:cNvSpPr txBox="1"/>
          <p:nvPr/>
        </p:nvSpPr>
        <p:spPr>
          <a:xfrm>
            <a:off x="5972175" y="3120390"/>
            <a:ext cx="773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NF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252E61-E958-CB5C-942E-1A5B8092B8F8}"/>
              </a:ext>
            </a:extLst>
          </p:cNvPr>
          <p:cNvSpPr txBox="1"/>
          <p:nvPr/>
        </p:nvSpPr>
        <p:spPr>
          <a:xfrm>
            <a:off x="6008370" y="2562106"/>
            <a:ext cx="773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NF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6791CC-0757-08F3-9DF3-105F26E4E2E9}"/>
              </a:ext>
            </a:extLst>
          </p:cNvPr>
          <p:cNvSpPr txBox="1"/>
          <p:nvPr/>
        </p:nvSpPr>
        <p:spPr>
          <a:xfrm>
            <a:off x="5899785" y="2029241"/>
            <a:ext cx="773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C80112-DD23-6A1D-7C82-349AD1302D37}"/>
              </a:ext>
            </a:extLst>
          </p:cNvPr>
          <p:cNvSpPr txBox="1"/>
          <p:nvPr/>
        </p:nvSpPr>
        <p:spPr>
          <a:xfrm>
            <a:off x="5907405" y="3850511"/>
            <a:ext cx="773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BCNF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0"/>
          <p:cNvSpPr/>
          <p:nvPr/>
        </p:nvSpPr>
        <p:spPr>
          <a:xfrm>
            <a:off x="320040" y="280416"/>
            <a:ext cx="4305300" cy="4672584"/>
          </a:xfrm>
          <a:prstGeom prst="rect">
            <a:avLst/>
          </a:prstGeom>
          <a:solidFill>
            <a:srgbClr val="0A1F18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0"/>
          <p:cNvSpPr/>
          <p:nvPr/>
        </p:nvSpPr>
        <p:spPr>
          <a:xfrm>
            <a:off x="4953000" y="251816"/>
            <a:ext cx="137160" cy="4800243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378;p20">
            <a:extLst>
              <a:ext uri="{FF2B5EF4-FFF2-40B4-BE49-F238E27FC236}">
                <a16:creationId xmlns:a16="http://schemas.microsoft.com/office/drawing/2014/main" id="{6279DD12-DF28-15CB-4BD1-D5956A493EA0}"/>
              </a:ext>
            </a:extLst>
          </p:cNvPr>
          <p:cNvSpPr/>
          <p:nvPr/>
        </p:nvSpPr>
        <p:spPr>
          <a:xfrm>
            <a:off x="320040" y="280416"/>
            <a:ext cx="91440" cy="4672584"/>
          </a:xfrm>
          <a:prstGeom prst="rect">
            <a:avLst/>
          </a:prstGeom>
          <a:solidFill>
            <a:srgbClr val="00B050"/>
          </a:solidFill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2F64BE-CE71-37C4-98EC-DF3DDF5ED410}"/>
              </a:ext>
            </a:extLst>
          </p:cNvPr>
          <p:cNvSpPr txBox="1"/>
          <p:nvPr/>
        </p:nvSpPr>
        <p:spPr>
          <a:xfrm>
            <a:off x="669748" y="397864"/>
            <a:ext cx="368808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First Normal Form (1NF): Eliminating Duplicate Records</a:t>
            </a:r>
          </a:p>
          <a:p>
            <a:endParaRPr lang="en-US" b="1" dirty="0">
              <a:solidFill>
                <a:srgbClr val="00B050"/>
              </a:solidFill>
            </a:endParaRPr>
          </a:p>
          <a:p>
            <a:pPr fontAlgn="base"/>
            <a:r>
              <a:rPr lang="en-US" dirty="0">
                <a:solidFill>
                  <a:schemeClr val="tx1"/>
                </a:solidFill>
              </a:rPr>
              <a:t>A table is in 1 NF if all columns contain atomic values (i.e., indivisible values).</a:t>
            </a: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Each attribute is atomic → 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1NF satisfied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dirty="0"/>
              <a:t>→</a:t>
            </a:r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5A476-873C-262D-AB12-D00506C0E5C5}"/>
              </a:ext>
            </a:extLst>
          </p:cNvPr>
          <p:cNvSpPr txBox="1"/>
          <p:nvPr/>
        </p:nvSpPr>
        <p:spPr>
          <a:xfrm>
            <a:off x="5090160" y="288263"/>
            <a:ext cx="40767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Second Normal Form (2NF): Eliminating Partial Dependency</a:t>
            </a:r>
          </a:p>
          <a:p>
            <a:endParaRPr lang="en-US" b="1" dirty="0">
              <a:solidFill>
                <a:srgbClr val="7030A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 relation is in 2 NF   if it satisfies the conditions of 1NF and additionally. No partial dependency exists, meaning every non-prime attribute (non-key attribute) must depend on the entire primary key, not just a part of it.</a:t>
            </a:r>
            <a:endParaRPr lang="en-US" b="1" dirty="0">
              <a:solidFill>
                <a:schemeClr val="tx1"/>
              </a:solidFill>
            </a:endParaRPr>
          </a:p>
          <a:p>
            <a:endParaRPr lang="en-IN" dirty="0"/>
          </a:p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It creates separate table for partial dependency</a:t>
            </a:r>
            <a:r>
              <a:rPr lang="en-IN" dirty="0">
                <a:solidFill>
                  <a:srgbClr val="7030A0"/>
                </a:solidFill>
              </a:rPr>
              <a:t>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1B780CD-1A2D-65C2-4218-A4D66E9382B7}"/>
              </a:ext>
            </a:extLst>
          </p:cNvPr>
          <p:cNvCxnSpPr>
            <a:cxnSpLocks/>
          </p:cNvCxnSpPr>
          <p:nvPr/>
        </p:nvCxnSpPr>
        <p:spPr>
          <a:xfrm>
            <a:off x="1724994" y="2532887"/>
            <a:ext cx="0" cy="48621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2993945-723E-850C-BF84-8F1A14528038}"/>
              </a:ext>
            </a:extLst>
          </p:cNvPr>
          <p:cNvSpPr/>
          <p:nvPr/>
        </p:nvSpPr>
        <p:spPr>
          <a:xfrm>
            <a:off x="5090160" y="251816"/>
            <a:ext cx="4053840" cy="480024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2F4C418-FE4E-439D-5DD0-8C46669542A3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6319400" y="3800333"/>
            <a:ext cx="629460" cy="315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A976FDB-F4CA-32F3-C20F-3A2F5DC80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73" y="1830737"/>
            <a:ext cx="2370025" cy="6629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85619F-9CD0-0925-BB19-2501C4650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94" y="3019102"/>
            <a:ext cx="2263336" cy="11888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BBF777D-F16C-BA81-69C5-7B54AF3747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1316" y="2939524"/>
            <a:ext cx="1675087" cy="8608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D4F308-13B7-B83C-CBC5-629AC97BAA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7320" y="4116033"/>
            <a:ext cx="1767993" cy="73920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05FEDBD-3299-BFEC-06FB-0FA8F2C659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7645" y="3936043"/>
            <a:ext cx="860095" cy="971710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1C7FEBD-FBA1-8D56-4A2A-BD0E2EA02CD7}"/>
              </a:ext>
            </a:extLst>
          </p:cNvPr>
          <p:cNvCxnSpPr>
            <a:cxnSpLocks/>
          </p:cNvCxnSpPr>
          <p:nvPr/>
        </p:nvCxnSpPr>
        <p:spPr>
          <a:xfrm>
            <a:off x="6937430" y="3808081"/>
            <a:ext cx="790215" cy="2293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CDD0DE4B-D443-31DA-AC15-4D96B106E4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3141" y="2066976"/>
            <a:ext cx="130289" cy="8571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C51E473-F7DB-C2CB-C950-C753F572B9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2397" y="3425146"/>
            <a:ext cx="144793" cy="9525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9AEB040-FD83-B20A-687F-ABBF93CAF8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2398" y="3260069"/>
            <a:ext cx="144793" cy="9525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E4889EC-ACC2-8CB9-DB41-2305AE6824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7678073" y="3104462"/>
            <a:ext cx="99143" cy="6522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DB297EB-ADDF-C024-28D4-F88E5A853D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6785172" y="4334552"/>
            <a:ext cx="147714" cy="9718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1B3BF13-7A07-F1D7-26C3-AC1D44980E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 flipV="1">
            <a:off x="7678072" y="3234127"/>
            <a:ext cx="108329" cy="712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>
          <a:extLst>
            <a:ext uri="{FF2B5EF4-FFF2-40B4-BE49-F238E27FC236}">
              <a16:creationId xmlns:a16="http://schemas.microsoft.com/office/drawing/2014/main" id="{E46C97E5-BFE5-AA57-EEBA-781A2EF35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0">
            <a:extLst>
              <a:ext uri="{FF2B5EF4-FFF2-40B4-BE49-F238E27FC236}">
                <a16:creationId xmlns:a16="http://schemas.microsoft.com/office/drawing/2014/main" id="{64DCD003-7020-69F6-D19A-6A7AB9CDB5F1}"/>
              </a:ext>
            </a:extLst>
          </p:cNvPr>
          <p:cNvSpPr/>
          <p:nvPr/>
        </p:nvSpPr>
        <p:spPr>
          <a:xfrm>
            <a:off x="320040" y="157398"/>
            <a:ext cx="4464623" cy="4886792"/>
          </a:xfrm>
          <a:prstGeom prst="rect">
            <a:avLst/>
          </a:prstGeom>
          <a:solidFill>
            <a:srgbClr val="0A1F18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0">
            <a:extLst>
              <a:ext uri="{FF2B5EF4-FFF2-40B4-BE49-F238E27FC236}">
                <a16:creationId xmlns:a16="http://schemas.microsoft.com/office/drawing/2014/main" id="{A50EC95F-82DA-265F-3C61-84DA823ED685}"/>
              </a:ext>
            </a:extLst>
          </p:cNvPr>
          <p:cNvSpPr/>
          <p:nvPr/>
        </p:nvSpPr>
        <p:spPr>
          <a:xfrm>
            <a:off x="4912161" y="157398"/>
            <a:ext cx="116957" cy="4886792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378;p20">
            <a:extLst>
              <a:ext uri="{FF2B5EF4-FFF2-40B4-BE49-F238E27FC236}">
                <a16:creationId xmlns:a16="http://schemas.microsoft.com/office/drawing/2014/main" id="{F993A2B3-AF58-F781-5A91-41EE50E04A7F}"/>
              </a:ext>
            </a:extLst>
          </p:cNvPr>
          <p:cNvSpPr/>
          <p:nvPr/>
        </p:nvSpPr>
        <p:spPr>
          <a:xfrm>
            <a:off x="320040" y="157398"/>
            <a:ext cx="91440" cy="4886792"/>
          </a:xfrm>
          <a:prstGeom prst="rect">
            <a:avLst/>
          </a:prstGeom>
          <a:solidFill>
            <a:srgbClr val="00B050"/>
          </a:solidFill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7C727A-19E1-9809-6632-EF3B55C86FDA}"/>
              </a:ext>
            </a:extLst>
          </p:cNvPr>
          <p:cNvSpPr txBox="1"/>
          <p:nvPr/>
        </p:nvSpPr>
        <p:spPr>
          <a:xfrm>
            <a:off x="538978" y="280417"/>
            <a:ext cx="386813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Third Normal Form (3NF): Eliminating Transitive Dependency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 relation is in 3NF if it satisfies 2NF and additionally , there is no transitive dependency for non-prime attributes then table is in the form of 3NF 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8CD7DA-88DB-2457-E6EA-166EE0A052A4}"/>
              </a:ext>
            </a:extLst>
          </p:cNvPr>
          <p:cNvSpPr txBox="1"/>
          <p:nvPr/>
        </p:nvSpPr>
        <p:spPr>
          <a:xfrm>
            <a:off x="5156616" y="280417"/>
            <a:ext cx="31404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Boyce-Codd Normal Form (BCNF):</a:t>
            </a:r>
          </a:p>
          <a:p>
            <a:endParaRPr lang="en-US" u="sng" dirty="0"/>
          </a:p>
          <a:p>
            <a:endParaRPr lang="en-US" u="sng" dirty="0"/>
          </a:p>
          <a:p>
            <a:r>
              <a:rPr lang="en-US" dirty="0">
                <a:solidFill>
                  <a:schemeClr val="tx1"/>
                </a:solidFill>
              </a:rPr>
              <a:t>It is </a:t>
            </a:r>
            <a:r>
              <a:rPr lang="en-US" u="sng" dirty="0">
                <a:solidFill>
                  <a:schemeClr val="tx1"/>
                </a:solidFill>
              </a:rPr>
              <a:t>s</a:t>
            </a:r>
            <a:r>
              <a:rPr lang="en-US" dirty="0">
                <a:solidFill>
                  <a:schemeClr val="tx1"/>
                </a:solidFill>
              </a:rPr>
              <a:t>tricter version of 3NF where for every non-trivial functional dependency (X → Y), X must be super key (a unique identifier for a record in the table).</a:t>
            </a:r>
          </a:p>
          <a:p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D315D1-F71D-EEBA-7374-787FC51793E8}"/>
              </a:ext>
            </a:extLst>
          </p:cNvPr>
          <p:cNvSpPr/>
          <p:nvPr/>
        </p:nvSpPr>
        <p:spPr>
          <a:xfrm rot="10800000" flipV="1">
            <a:off x="4912162" y="157398"/>
            <a:ext cx="3751778" cy="488679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2FEA12-A551-C8EE-3BE3-1AE578E72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987" y="2697191"/>
            <a:ext cx="2286198" cy="6477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7FA03C-4FB7-8195-A70F-68A11F37C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71" y="4139120"/>
            <a:ext cx="1760373" cy="7239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128C08-8B52-8622-A2C7-38200A1506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7261" y="4169603"/>
            <a:ext cx="845893" cy="69348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22486B1-3058-0B80-4895-ADFAFF0E8BB1}"/>
              </a:ext>
            </a:extLst>
          </p:cNvPr>
          <p:cNvCxnSpPr/>
          <p:nvPr/>
        </p:nvCxnSpPr>
        <p:spPr>
          <a:xfrm flipH="1">
            <a:off x="1768839" y="3388960"/>
            <a:ext cx="606905" cy="75016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79F064-A057-D681-2A3B-0DA9690D401B}"/>
              </a:ext>
            </a:extLst>
          </p:cNvPr>
          <p:cNvCxnSpPr>
            <a:cxnSpLocks/>
          </p:cNvCxnSpPr>
          <p:nvPr/>
        </p:nvCxnSpPr>
        <p:spPr>
          <a:xfrm>
            <a:off x="2375744" y="3388960"/>
            <a:ext cx="971517" cy="78064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90B468B-0353-0C20-1B27-E6F934A1A4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3912" y="2235114"/>
            <a:ext cx="2225233" cy="81541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1C36B57-EACB-740D-9764-FACFAD02F7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4054" y="3445325"/>
            <a:ext cx="1265030" cy="86113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3DDFAC7-EA28-53B5-4D50-D87EA30D68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8426" y="3510102"/>
            <a:ext cx="960203" cy="731583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E94FCD0-DF5E-9503-3799-AA8E2FB133E4}"/>
              </a:ext>
            </a:extLst>
          </p:cNvPr>
          <p:cNvCxnSpPr>
            <a:cxnSpLocks/>
          </p:cNvCxnSpPr>
          <p:nvPr/>
        </p:nvCxnSpPr>
        <p:spPr>
          <a:xfrm flipH="1">
            <a:off x="6078460" y="3021069"/>
            <a:ext cx="661842" cy="42425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49FF5C2-06CE-5909-9163-DE442A2DBF67}"/>
              </a:ext>
            </a:extLst>
          </p:cNvPr>
          <p:cNvCxnSpPr>
            <a:cxnSpLocks/>
          </p:cNvCxnSpPr>
          <p:nvPr/>
        </p:nvCxnSpPr>
        <p:spPr>
          <a:xfrm>
            <a:off x="6730603" y="3037295"/>
            <a:ext cx="834105" cy="47280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D24DF05-0388-D18E-DF2E-20D8D0C620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0381" y="2925810"/>
            <a:ext cx="144793" cy="9525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4FB8B03-0461-27F5-4EC2-705DCCF9F1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0721" y="4393743"/>
            <a:ext cx="144793" cy="9525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CB0F667-4050-AE15-9D6E-8AE0C53598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V="1">
            <a:off x="4011583" y="4381645"/>
            <a:ext cx="181572" cy="1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884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2200"/>
            </a:pPr>
            <a:r>
              <a:rPr lang="en-US" sz="2200" b="1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SQL (</a:t>
            </a:r>
            <a:r>
              <a:rPr lang="en-IN" sz="1800" dirty="0">
                <a:solidFill>
                  <a:schemeClr val="tx1"/>
                </a:solidFill>
              </a:rPr>
              <a:t>Structured Query Language</a:t>
            </a:r>
            <a:r>
              <a:rPr lang="en-US" sz="2200" b="1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2"/>
          <p:cNvSpPr/>
          <p:nvPr/>
        </p:nvSpPr>
        <p:spPr>
          <a:xfrm>
            <a:off x="274320" y="4319587"/>
            <a:ext cx="8503920" cy="4572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2"/>
          <p:cNvSpPr/>
          <p:nvPr/>
        </p:nvSpPr>
        <p:spPr>
          <a:xfrm>
            <a:off x="411480" y="4617720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72" name="Picture 4" descr="Sql logo Vectors - Download Free High-Quality Vectors from Freepik | Freepik">
            <a:extLst>
              <a:ext uri="{FF2B5EF4-FFF2-40B4-BE49-F238E27FC236}">
                <a16:creationId xmlns:a16="http://schemas.microsoft.com/office/drawing/2014/main" id="{25C89B70-9CA6-1A6F-23CE-C4F70D083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819" y="1089660"/>
            <a:ext cx="2773680" cy="256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3A527E-ABFE-A4E8-9AF4-BD92A43ED883}"/>
              </a:ext>
            </a:extLst>
          </p:cNvPr>
          <p:cNvSpPr txBox="1"/>
          <p:nvPr/>
        </p:nvSpPr>
        <p:spPr>
          <a:xfrm>
            <a:off x="320040" y="990600"/>
            <a:ext cx="49911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SQL is a standard language for accessing and manipulating databases.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SQL stands for Structured Query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SQL lets you access and manipulate 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SQL became a standard of the American National Standards Institute (ANSI) in 1986, and of the International Organization for Standardization (ISO) in 1987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18E5B-4B86-5AC5-F9ED-BCA6727EA294}"/>
              </a:ext>
            </a:extLst>
          </p:cNvPr>
          <p:cNvSpPr txBox="1"/>
          <p:nvPr/>
        </p:nvSpPr>
        <p:spPr>
          <a:xfrm>
            <a:off x="365760" y="4355664"/>
            <a:ext cx="8503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F0"/>
                </a:solidFill>
              </a:rPr>
              <a:t>“Data is a precious thing and will last longer than the systems themselves.”</a:t>
            </a:r>
            <a:endParaRPr lang="en-IN" b="1" i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5B8052-A674-223A-BFC1-59843ABACF4F}"/>
              </a:ext>
            </a:extLst>
          </p:cNvPr>
          <p:cNvSpPr txBox="1"/>
          <p:nvPr/>
        </p:nvSpPr>
        <p:spPr>
          <a:xfrm>
            <a:off x="411480" y="2887980"/>
            <a:ext cx="51282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Uses of SQL:</a:t>
            </a:r>
            <a:endParaRPr lang="en-US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Insert, update, delete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Retrieve data (queries)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Manage database structure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>
          <a:extLst>
            <a:ext uri="{FF2B5EF4-FFF2-40B4-BE49-F238E27FC236}">
              <a16:creationId xmlns:a16="http://schemas.microsoft.com/office/drawing/2014/main" id="{59412A0C-40A1-44EF-E918-1BED19755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3">
            <a:extLst>
              <a:ext uri="{FF2B5EF4-FFF2-40B4-BE49-F238E27FC236}">
                <a16:creationId xmlns:a16="http://schemas.microsoft.com/office/drawing/2014/main" id="{985391BE-60ED-830D-16FF-E6D20CA172BD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3">
            <a:extLst>
              <a:ext uri="{FF2B5EF4-FFF2-40B4-BE49-F238E27FC236}">
                <a16:creationId xmlns:a16="http://schemas.microsoft.com/office/drawing/2014/main" id="{D01E6B2D-5B64-B6CE-A723-71DDD7B1E53F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2200"/>
              <a:buFont typeface="Calibri"/>
              <a:buNone/>
            </a:pPr>
            <a:r>
              <a:rPr lang="en-US" sz="2200" b="1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Basic SQL Queries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3">
            <a:extLst>
              <a:ext uri="{FF2B5EF4-FFF2-40B4-BE49-F238E27FC236}">
                <a16:creationId xmlns:a16="http://schemas.microsoft.com/office/drawing/2014/main" id="{877731B4-7BE8-C457-1281-DCACA6D02757}"/>
              </a:ext>
            </a:extLst>
          </p:cNvPr>
          <p:cNvSpPr/>
          <p:nvPr/>
        </p:nvSpPr>
        <p:spPr>
          <a:xfrm>
            <a:off x="320040" y="749808"/>
            <a:ext cx="4251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3">
            <a:extLst>
              <a:ext uri="{FF2B5EF4-FFF2-40B4-BE49-F238E27FC236}">
                <a16:creationId xmlns:a16="http://schemas.microsoft.com/office/drawing/2014/main" id="{A60B89F9-DE53-8DE8-F37C-589BDB9B5AC4}"/>
              </a:ext>
            </a:extLst>
          </p:cNvPr>
          <p:cNvSpPr/>
          <p:nvPr/>
        </p:nvSpPr>
        <p:spPr>
          <a:xfrm>
            <a:off x="4663440" y="906780"/>
            <a:ext cx="4251960" cy="4088832"/>
          </a:xfrm>
          <a:prstGeom prst="rect">
            <a:avLst/>
          </a:prstGeom>
          <a:solidFill>
            <a:srgbClr val="0D1B2A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3">
            <a:extLst>
              <a:ext uri="{FF2B5EF4-FFF2-40B4-BE49-F238E27FC236}">
                <a16:creationId xmlns:a16="http://schemas.microsoft.com/office/drawing/2014/main" id="{40F1AA22-B809-2897-0C1A-0431C855EC7F}"/>
              </a:ext>
            </a:extLst>
          </p:cNvPr>
          <p:cNvSpPr/>
          <p:nvPr/>
        </p:nvSpPr>
        <p:spPr>
          <a:xfrm>
            <a:off x="411480" y="3337560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F0F4FF"/>
                </a:solidFill>
                <a:latin typeface="Consolas"/>
                <a:ea typeface="Consolas"/>
                <a:cs typeface="Consolas"/>
                <a:sym typeface="Consolas"/>
              </a:rPr>
              <a:t>  while resources_left():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3">
            <a:extLst>
              <a:ext uri="{FF2B5EF4-FFF2-40B4-BE49-F238E27FC236}">
                <a16:creationId xmlns:a16="http://schemas.microsoft.com/office/drawing/2014/main" id="{992A591B-A90E-565C-62AE-7BF4949D55F2}"/>
              </a:ext>
            </a:extLst>
          </p:cNvPr>
          <p:cNvSpPr/>
          <p:nvPr/>
        </p:nvSpPr>
        <p:spPr>
          <a:xfrm>
            <a:off x="68520" y="835212"/>
            <a:ext cx="4206300" cy="4160400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E44E7ED-AF26-4F13-EE2C-9840A13FF15E}"/>
              </a:ext>
            </a:extLst>
          </p:cNvPr>
          <p:cNvSpPr/>
          <p:nvPr/>
        </p:nvSpPr>
        <p:spPr>
          <a:xfrm>
            <a:off x="68520" y="835211"/>
            <a:ext cx="160080" cy="4160383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7FCB64-ADDA-E509-11F2-65B33D411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81406"/>
            <a:ext cx="4069080" cy="388777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880CE55D-671B-CEE8-F569-DF184C183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690212"/>
            <a:ext cx="349758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CREATE DATABASE → creates a new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USE → selects the database to work 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CREATE TABLE → creates a new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PRIMARY KEY → uniquely identifies each row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SELECT → retrieves data from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DISTINCT → removes duplicate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LIMIT → restricts number of rows returned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WHERE → filters records based on condition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AND/OR/NOT → combines multiple conditions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ORDER BY → sorts data (ASC/DESC)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AVG/SUM/COUNT/MAX/MIN → perform calculations on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GROUP BY → groups rows with same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HAVING → filters grouped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LIKE → searches using patterns (wildcards)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INNER JOIN → shows only matching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LEFT JOIN → shows all left table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RIGHT JOIN → shows all right table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547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>
          <a:extLst>
            <a:ext uri="{FF2B5EF4-FFF2-40B4-BE49-F238E27FC236}">
              <a16:creationId xmlns:a16="http://schemas.microsoft.com/office/drawing/2014/main" id="{E383C050-0CC2-02DD-0F0A-46586B3D6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3">
            <a:extLst>
              <a:ext uri="{FF2B5EF4-FFF2-40B4-BE49-F238E27FC236}">
                <a16:creationId xmlns:a16="http://schemas.microsoft.com/office/drawing/2014/main" id="{020B3D3A-3DFC-5A84-53A3-31D6E7401AF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3">
            <a:extLst>
              <a:ext uri="{FF2B5EF4-FFF2-40B4-BE49-F238E27FC236}">
                <a16:creationId xmlns:a16="http://schemas.microsoft.com/office/drawing/2014/main" id="{D000BF14-9C16-6031-2A77-479AE1805E96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2200"/>
              <a:buFont typeface="Calibri"/>
              <a:buNone/>
            </a:pPr>
            <a:r>
              <a:rPr lang="en-US" sz="2200" b="1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Basic SQL Queries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3">
            <a:extLst>
              <a:ext uri="{FF2B5EF4-FFF2-40B4-BE49-F238E27FC236}">
                <a16:creationId xmlns:a16="http://schemas.microsoft.com/office/drawing/2014/main" id="{DF5BC564-3399-674F-4A6F-C3F6B96701CA}"/>
              </a:ext>
            </a:extLst>
          </p:cNvPr>
          <p:cNvSpPr/>
          <p:nvPr/>
        </p:nvSpPr>
        <p:spPr>
          <a:xfrm>
            <a:off x="320040" y="749808"/>
            <a:ext cx="4251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3">
            <a:extLst>
              <a:ext uri="{FF2B5EF4-FFF2-40B4-BE49-F238E27FC236}">
                <a16:creationId xmlns:a16="http://schemas.microsoft.com/office/drawing/2014/main" id="{58637AF6-1591-FEB6-5771-B9DACD8B998A}"/>
              </a:ext>
            </a:extLst>
          </p:cNvPr>
          <p:cNvSpPr/>
          <p:nvPr/>
        </p:nvSpPr>
        <p:spPr>
          <a:xfrm>
            <a:off x="4663440" y="906780"/>
            <a:ext cx="4251960" cy="4088832"/>
          </a:xfrm>
          <a:prstGeom prst="rect">
            <a:avLst/>
          </a:prstGeom>
          <a:solidFill>
            <a:srgbClr val="0D1B2A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3">
            <a:extLst>
              <a:ext uri="{FF2B5EF4-FFF2-40B4-BE49-F238E27FC236}">
                <a16:creationId xmlns:a16="http://schemas.microsoft.com/office/drawing/2014/main" id="{B1F82FA5-8A59-E96D-6C2C-CC8E94C17652}"/>
              </a:ext>
            </a:extLst>
          </p:cNvPr>
          <p:cNvSpPr/>
          <p:nvPr/>
        </p:nvSpPr>
        <p:spPr>
          <a:xfrm>
            <a:off x="411480" y="3337560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F0F4FF"/>
                </a:solidFill>
                <a:latin typeface="Consolas"/>
                <a:ea typeface="Consolas"/>
                <a:cs typeface="Consolas"/>
                <a:sym typeface="Consolas"/>
              </a:rPr>
              <a:t>  while resources_left():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3">
            <a:extLst>
              <a:ext uri="{FF2B5EF4-FFF2-40B4-BE49-F238E27FC236}">
                <a16:creationId xmlns:a16="http://schemas.microsoft.com/office/drawing/2014/main" id="{856C8251-49BA-184D-EFFC-D8DE13FEB1D4}"/>
              </a:ext>
            </a:extLst>
          </p:cNvPr>
          <p:cNvSpPr/>
          <p:nvPr/>
        </p:nvSpPr>
        <p:spPr>
          <a:xfrm>
            <a:off x="137100" y="835194"/>
            <a:ext cx="4206300" cy="4160400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9964CF-816B-1E51-E115-C89D165B81AA}"/>
              </a:ext>
            </a:extLst>
          </p:cNvPr>
          <p:cNvSpPr/>
          <p:nvPr/>
        </p:nvSpPr>
        <p:spPr>
          <a:xfrm>
            <a:off x="68520" y="835211"/>
            <a:ext cx="160080" cy="4160383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42882D-396C-C6BF-4639-09903F49E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" y="2528982"/>
            <a:ext cx="2537680" cy="182896"/>
          </a:xfrm>
          <a:prstGeom prst="rect">
            <a:avLst/>
          </a:prstGeom>
        </p:spPr>
      </p:pic>
      <p:sp>
        <p:nvSpPr>
          <p:cNvPr id="13" name="Google Shape;511;p23">
            <a:extLst>
              <a:ext uri="{FF2B5EF4-FFF2-40B4-BE49-F238E27FC236}">
                <a16:creationId xmlns:a16="http://schemas.microsoft.com/office/drawing/2014/main" id="{DCD421C7-AE75-6720-1812-3AA1DD7EE5F5}"/>
              </a:ext>
            </a:extLst>
          </p:cNvPr>
          <p:cNvSpPr/>
          <p:nvPr/>
        </p:nvSpPr>
        <p:spPr>
          <a:xfrm>
            <a:off x="4686270" y="870996"/>
            <a:ext cx="4206300" cy="4160400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03DB08-9932-2DBB-11C7-19628A484892}"/>
              </a:ext>
            </a:extLst>
          </p:cNvPr>
          <p:cNvSpPr/>
          <p:nvPr/>
        </p:nvSpPr>
        <p:spPr>
          <a:xfrm>
            <a:off x="4674840" y="870996"/>
            <a:ext cx="160080" cy="4160383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4EEA3D7-81A5-E6F7-2B51-E6B8CE6D6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" y="3638483"/>
            <a:ext cx="2636748" cy="182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6D379F-FAA3-816F-B9CD-A20A0717BF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4" y="955577"/>
            <a:ext cx="1756565" cy="14980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B2E7DB-F913-9539-C827-4E873350CF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190" y="2700959"/>
            <a:ext cx="1649627" cy="636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0E9B4F-3966-BBF4-7D10-2C1780D6B8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5407" y="2756726"/>
            <a:ext cx="1741737" cy="627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A9F86F-9346-97AA-58C5-2A451E6FD8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6020" y="2571750"/>
            <a:ext cx="1790855" cy="1676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770D74-E884-22E9-36F3-E89B235F8F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440" y="3902193"/>
            <a:ext cx="2248095" cy="5258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8DAD188-CEF5-A5E4-D04F-6542B7EBA9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6360" y="906762"/>
            <a:ext cx="2735817" cy="1752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8ED4958-C0DA-BB53-7B8E-7877F400A9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75864" y="1115348"/>
            <a:ext cx="2232853" cy="80779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981D12C-E6B4-E1C7-C010-DC5692515F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7202" y="2071173"/>
            <a:ext cx="2072820" cy="1828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52BF43-173F-770D-DF58-DFB90DDE15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45081" y="2307801"/>
            <a:ext cx="845893" cy="4115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AF01B5-3AA5-91E5-AAAA-BF5527390F2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45231" y="2096121"/>
            <a:ext cx="1707028" cy="7773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46EF65-1E20-676B-D76E-A46D88EB599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56812" y="3140253"/>
            <a:ext cx="1135478" cy="3962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33DA62A-3895-0400-BB69-3F8383FFEBC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75864" y="4084307"/>
            <a:ext cx="3642676" cy="1524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313696F-C2AE-18DB-F726-35EDA6E56BA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31972" y="4311018"/>
            <a:ext cx="2278577" cy="3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672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>
          <a:extLst>
            <a:ext uri="{FF2B5EF4-FFF2-40B4-BE49-F238E27FC236}">
              <a16:creationId xmlns:a16="http://schemas.microsoft.com/office/drawing/2014/main" id="{089BDC30-3EB1-94CB-E4BC-6EBEA0329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3">
            <a:extLst>
              <a:ext uri="{FF2B5EF4-FFF2-40B4-BE49-F238E27FC236}">
                <a16:creationId xmlns:a16="http://schemas.microsoft.com/office/drawing/2014/main" id="{14FD471A-9E0A-E518-E236-E7B370494B92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3">
            <a:extLst>
              <a:ext uri="{FF2B5EF4-FFF2-40B4-BE49-F238E27FC236}">
                <a16:creationId xmlns:a16="http://schemas.microsoft.com/office/drawing/2014/main" id="{391960B9-ABD1-9325-98E4-FC113E1AEEEF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2200"/>
              <a:buFont typeface="Calibri"/>
              <a:buNone/>
            </a:pPr>
            <a:r>
              <a:rPr lang="en-US" sz="2200" b="1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Basic SQL Queries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3">
            <a:extLst>
              <a:ext uri="{FF2B5EF4-FFF2-40B4-BE49-F238E27FC236}">
                <a16:creationId xmlns:a16="http://schemas.microsoft.com/office/drawing/2014/main" id="{47B3DBBC-C03C-2F00-CE4F-C23088F5D9EB}"/>
              </a:ext>
            </a:extLst>
          </p:cNvPr>
          <p:cNvSpPr/>
          <p:nvPr/>
        </p:nvSpPr>
        <p:spPr>
          <a:xfrm>
            <a:off x="320040" y="749808"/>
            <a:ext cx="4251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3">
            <a:extLst>
              <a:ext uri="{FF2B5EF4-FFF2-40B4-BE49-F238E27FC236}">
                <a16:creationId xmlns:a16="http://schemas.microsoft.com/office/drawing/2014/main" id="{562DB85D-4EC7-B296-5FF7-3A63CD6599BF}"/>
              </a:ext>
            </a:extLst>
          </p:cNvPr>
          <p:cNvSpPr/>
          <p:nvPr/>
        </p:nvSpPr>
        <p:spPr>
          <a:xfrm>
            <a:off x="411480" y="3337560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F0F4FF"/>
                </a:solidFill>
                <a:latin typeface="Consolas"/>
                <a:ea typeface="Consolas"/>
                <a:cs typeface="Consolas"/>
                <a:sym typeface="Consolas"/>
              </a:rPr>
              <a:t>  while resources_left():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3">
            <a:extLst>
              <a:ext uri="{FF2B5EF4-FFF2-40B4-BE49-F238E27FC236}">
                <a16:creationId xmlns:a16="http://schemas.microsoft.com/office/drawing/2014/main" id="{0FEA0EF1-E4D6-17C3-346E-4B41B85CCEC3}"/>
              </a:ext>
            </a:extLst>
          </p:cNvPr>
          <p:cNvSpPr/>
          <p:nvPr/>
        </p:nvSpPr>
        <p:spPr>
          <a:xfrm>
            <a:off x="68520" y="835194"/>
            <a:ext cx="4206300" cy="4160400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z</a:t>
            </a:r>
            <a:endParaRPr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89F4100-5FA2-5C0C-1833-677EE07D332D}"/>
              </a:ext>
            </a:extLst>
          </p:cNvPr>
          <p:cNvSpPr/>
          <p:nvPr/>
        </p:nvSpPr>
        <p:spPr>
          <a:xfrm>
            <a:off x="68520" y="835211"/>
            <a:ext cx="160080" cy="4160383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F6EED3-EEF3-16C5-EA63-D01389430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" y="944887"/>
            <a:ext cx="3421677" cy="7544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7F319B-7A5F-9F43-00E9-ECE814377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" y="2964147"/>
            <a:ext cx="3604572" cy="7468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5A940C-2CE1-6B4B-CF4C-27938935B1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935719"/>
            <a:ext cx="2409863" cy="11201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31EF803-B420-8C84-BB36-C21175B76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1374" y="2069533"/>
            <a:ext cx="2360666" cy="11030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D99FB4D-D9E7-3BF8-CE22-DE2CECC195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127137"/>
            <a:ext cx="2215320" cy="108064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A9F5CD1-45F5-9826-B3F7-C534B68551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189" y="3914950"/>
            <a:ext cx="2279023" cy="10806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CD0A09-B837-DEB1-C90F-9D912A1281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" y="1784718"/>
            <a:ext cx="1478408" cy="7087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2A1A98-6353-A3A8-3B31-4FC4A32C03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655" y="3783287"/>
            <a:ext cx="1516511" cy="83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913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1"/>
          <p:cNvSpPr/>
          <p:nvPr/>
        </p:nvSpPr>
        <p:spPr>
          <a:xfrm>
            <a:off x="457200" y="27432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31"/>
          <p:cNvSpPr/>
          <p:nvPr/>
        </p:nvSpPr>
        <p:spPr>
          <a:xfrm>
            <a:off x="1645920" y="82296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31"/>
          <p:cNvSpPr/>
          <p:nvPr/>
        </p:nvSpPr>
        <p:spPr>
          <a:xfrm>
            <a:off x="2926080" y="36576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31"/>
          <p:cNvSpPr/>
          <p:nvPr/>
        </p:nvSpPr>
        <p:spPr>
          <a:xfrm>
            <a:off x="4572000" y="100584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31"/>
          <p:cNvSpPr/>
          <p:nvPr/>
        </p:nvSpPr>
        <p:spPr>
          <a:xfrm>
            <a:off x="6217920" y="45720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31"/>
          <p:cNvSpPr/>
          <p:nvPr/>
        </p:nvSpPr>
        <p:spPr>
          <a:xfrm>
            <a:off x="7772400" y="73152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31"/>
          <p:cNvSpPr/>
          <p:nvPr/>
        </p:nvSpPr>
        <p:spPr>
          <a:xfrm>
            <a:off x="8503920" y="18288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31"/>
          <p:cNvSpPr/>
          <p:nvPr/>
        </p:nvSpPr>
        <p:spPr>
          <a:xfrm>
            <a:off x="274320" y="438912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31"/>
          <p:cNvSpPr/>
          <p:nvPr/>
        </p:nvSpPr>
        <p:spPr>
          <a:xfrm>
            <a:off x="1463040" y="466344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31"/>
          <p:cNvSpPr/>
          <p:nvPr/>
        </p:nvSpPr>
        <p:spPr>
          <a:xfrm>
            <a:off x="3840480" y="420624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31"/>
          <p:cNvSpPr/>
          <p:nvPr/>
        </p:nvSpPr>
        <p:spPr>
          <a:xfrm>
            <a:off x="5486400" y="475488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31"/>
          <p:cNvSpPr/>
          <p:nvPr/>
        </p:nvSpPr>
        <p:spPr>
          <a:xfrm>
            <a:off x="6858000" y="438912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31"/>
          <p:cNvSpPr/>
          <p:nvPr/>
        </p:nvSpPr>
        <p:spPr>
          <a:xfrm>
            <a:off x="8321040" y="466344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31"/>
          <p:cNvSpPr/>
          <p:nvPr/>
        </p:nvSpPr>
        <p:spPr>
          <a:xfrm>
            <a:off x="457200" y="640080"/>
            <a:ext cx="6217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1"/>
          <p:cNvSpPr/>
          <p:nvPr/>
        </p:nvSpPr>
        <p:spPr>
          <a:xfrm>
            <a:off x="457200" y="1325880"/>
            <a:ext cx="3474720" cy="4572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31"/>
          <p:cNvSpPr/>
          <p:nvPr/>
        </p:nvSpPr>
        <p:spPr>
          <a:xfrm>
            <a:off x="365760" y="1508760"/>
            <a:ext cx="54864" cy="36576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31"/>
          <p:cNvSpPr/>
          <p:nvPr/>
        </p:nvSpPr>
        <p:spPr>
          <a:xfrm>
            <a:off x="548640" y="1481328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1200"/>
            </a:pPr>
            <a:r>
              <a:rPr lang="en-US" sz="1200" dirty="0">
                <a:solidFill>
                  <a:schemeClr val="tx1"/>
                </a:solidFill>
              </a:rPr>
              <a:t>DBMS provides </a:t>
            </a:r>
            <a:r>
              <a:rPr lang="en-US" sz="1200" b="1" dirty="0">
                <a:solidFill>
                  <a:schemeClr val="tx1"/>
                </a:solidFill>
              </a:rPr>
              <a:t>efficient, secure, and structured data management</a:t>
            </a:r>
            <a:endParaRPr sz="1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1"/>
          <p:cNvSpPr/>
          <p:nvPr/>
        </p:nvSpPr>
        <p:spPr>
          <a:xfrm>
            <a:off x="365760" y="2130552"/>
            <a:ext cx="54864" cy="36576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31"/>
          <p:cNvSpPr/>
          <p:nvPr/>
        </p:nvSpPr>
        <p:spPr>
          <a:xfrm>
            <a:off x="548640" y="2103120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FA3B8"/>
              </a:buClr>
              <a:buSzPts val="1200"/>
            </a:pPr>
            <a:r>
              <a:rPr lang="en-US" sz="1200" dirty="0">
                <a:solidFill>
                  <a:schemeClr val="tx1"/>
                </a:solidFill>
              </a:rPr>
              <a:t>Overcomes limitations of traditional </a:t>
            </a:r>
            <a:r>
              <a:rPr lang="en-US" sz="1200" b="1" dirty="0">
                <a:solidFill>
                  <a:schemeClr val="tx1"/>
                </a:solidFill>
              </a:rPr>
              <a:t>file systems</a:t>
            </a:r>
            <a:endParaRPr sz="1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1"/>
          <p:cNvSpPr/>
          <p:nvPr/>
        </p:nvSpPr>
        <p:spPr>
          <a:xfrm>
            <a:off x="365760" y="2752344"/>
            <a:ext cx="54864" cy="36576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31"/>
          <p:cNvSpPr/>
          <p:nvPr/>
        </p:nvSpPr>
        <p:spPr>
          <a:xfrm>
            <a:off x="548640" y="2724912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1200"/>
            </a:pPr>
            <a:r>
              <a:rPr lang="en-US" sz="1200" b="1" dirty="0">
                <a:solidFill>
                  <a:schemeClr val="tx1"/>
                </a:solidFill>
              </a:rPr>
              <a:t>ER Diagrams</a:t>
            </a:r>
            <a:r>
              <a:rPr lang="en-US" sz="1200" dirty="0">
                <a:solidFill>
                  <a:schemeClr val="tx1"/>
                </a:solidFill>
              </a:rPr>
              <a:t> help in designing databases clearly</a:t>
            </a:r>
            <a:endParaRPr sz="1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1"/>
          <p:cNvSpPr/>
          <p:nvPr/>
        </p:nvSpPr>
        <p:spPr>
          <a:xfrm>
            <a:off x="365760" y="3374136"/>
            <a:ext cx="54864" cy="36576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31"/>
          <p:cNvSpPr/>
          <p:nvPr/>
        </p:nvSpPr>
        <p:spPr>
          <a:xfrm>
            <a:off x="548640" y="3346704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1"/>
          <p:cNvSpPr/>
          <p:nvPr/>
        </p:nvSpPr>
        <p:spPr>
          <a:xfrm>
            <a:off x="365760" y="3995928"/>
            <a:ext cx="54864" cy="36576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1"/>
          <p:cNvSpPr/>
          <p:nvPr/>
        </p:nvSpPr>
        <p:spPr>
          <a:xfrm>
            <a:off x="548640" y="3968496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1200"/>
            </a:pPr>
            <a:r>
              <a:rPr lang="en-US" sz="1200" b="1" dirty="0">
                <a:solidFill>
                  <a:schemeClr val="tx1"/>
                </a:solidFill>
              </a:rPr>
              <a:t>SQL</a:t>
            </a:r>
            <a:r>
              <a:rPr lang="en-US" sz="1200" dirty="0">
                <a:solidFill>
                  <a:schemeClr val="tx1"/>
                </a:solidFill>
              </a:rPr>
              <a:t> enables easy data retrieval and manipulation</a:t>
            </a:r>
            <a:r>
              <a:rPr lang="en-US" sz="1200" b="0" i="0" u="none" strike="noStrike" cap="none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728;p31">
            <a:extLst>
              <a:ext uri="{FF2B5EF4-FFF2-40B4-BE49-F238E27FC236}">
                <a16:creationId xmlns:a16="http://schemas.microsoft.com/office/drawing/2014/main" id="{F674D3A1-C76B-8360-4CCC-C1F78937B5F3}"/>
              </a:ext>
            </a:extLst>
          </p:cNvPr>
          <p:cNvSpPr/>
          <p:nvPr/>
        </p:nvSpPr>
        <p:spPr>
          <a:xfrm>
            <a:off x="548640" y="3358896"/>
            <a:ext cx="5756148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1200"/>
            </a:pPr>
            <a:r>
              <a:rPr lang="en-US" sz="1200" b="1" dirty="0">
                <a:solidFill>
                  <a:schemeClr val="tx1"/>
                </a:solidFill>
              </a:rPr>
              <a:t>Normalization</a:t>
            </a:r>
            <a:r>
              <a:rPr lang="en-US" sz="1200" dirty="0">
                <a:solidFill>
                  <a:schemeClr val="tx1"/>
                </a:solidFill>
              </a:rPr>
              <a:t> reduces redundancy and improves efficiency</a:t>
            </a:r>
            <a:r>
              <a:rPr lang="en-US" sz="1200" b="0" i="0" u="none" strike="noStrike" cap="none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1854</TotalTime>
  <Words>1596</Words>
  <Application>Microsoft Office PowerPoint</Application>
  <PresentationFormat>On-screen Show (16:9)</PresentationFormat>
  <Paragraphs>296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Wingdings</vt:lpstr>
      <vt:lpstr>Simple 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Laxmi Maurya</cp:lastModifiedBy>
  <cp:revision>4</cp:revision>
  <dcterms:modified xsi:type="dcterms:W3CDTF">2026-04-07T11:04:56Z</dcterms:modified>
</cp:coreProperties>
</file>